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81" r:id="rId2"/>
    <p:sldId id="2587" r:id="rId3"/>
    <p:sldId id="2595" r:id="rId4"/>
    <p:sldId id="2589" r:id="rId5"/>
    <p:sldId id="2582" r:id="rId6"/>
    <p:sldId id="2583" r:id="rId7"/>
    <p:sldId id="2592" r:id="rId8"/>
    <p:sldId id="2597" r:id="rId9"/>
    <p:sldId id="2598" r:id="rId10"/>
    <p:sldId id="2596" r:id="rId11"/>
    <p:sldId id="2585" r:id="rId12"/>
    <p:sldId id="2586" r:id="rId13"/>
    <p:sldId id="2561" r:id="rId14"/>
    <p:sldId id="2562" r:id="rId15"/>
    <p:sldId id="2563" r:id="rId16"/>
    <p:sldId id="2564" r:id="rId17"/>
    <p:sldId id="2565" r:id="rId18"/>
    <p:sldId id="2567" r:id="rId19"/>
    <p:sldId id="2568" r:id="rId20"/>
    <p:sldId id="2569" r:id="rId21"/>
    <p:sldId id="2570" r:id="rId22"/>
    <p:sldId id="2571" r:id="rId23"/>
    <p:sldId id="2572" r:id="rId24"/>
    <p:sldId id="2573" r:id="rId25"/>
    <p:sldId id="2574" r:id="rId26"/>
    <p:sldId id="2575" r:id="rId27"/>
    <p:sldId id="2576" r:id="rId28"/>
    <p:sldId id="2577" r:id="rId29"/>
    <p:sldId id="2578" r:id="rId30"/>
    <p:sldId id="257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veraging TensorFlow for Regression Problems: Techniques and Applications" id="{B3FEB75A-E254-45FA-ABF2-66017BA199C0}">
          <p14:sldIdLst>
            <p14:sldId id="2581"/>
            <p14:sldId id="2587"/>
            <p14:sldId id="2595"/>
            <p14:sldId id="2589"/>
            <p14:sldId id="2582"/>
            <p14:sldId id="2583"/>
            <p14:sldId id="2592"/>
            <p14:sldId id="2597"/>
            <p14:sldId id="2598"/>
            <p14:sldId id="2596"/>
            <p14:sldId id="2585"/>
            <p14:sldId id="2586"/>
            <p14:sldId id="2561"/>
            <p14:sldId id="2562"/>
          </p14:sldIdLst>
        </p14:section>
        <p14:section name="Introduction to Regression Analysis" id="{6C287AE5-C23F-4E4B-8165-27CC4063DE2D}">
          <p14:sldIdLst>
            <p14:sldId id="2563"/>
            <p14:sldId id="2564"/>
            <p14:sldId id="2565"/>
          </p14:sldIdLst>
        </p14:section>
        <p14:section name="Overview of TensorFlow and Its Capabilities" id="{67659591-F3A2-4B66-8EC3-12D354AEE45B}">
          <p14:sldIdLst>
            <p14:sldId id="2567"/>
            <p14:sldId id="2568"/>
            <p14:sldId id="2569"/>
            <p14:sldId id="2570"/>
          </p14:sldIdLst>
        </p14:section>
        <p14:section name="Implementing Regression Models in TensorFlow" id="{B5969C8D-CB03-4A1E-8E90-A7864DF38B86}">
          <p14:sldIdLst>
            <p14:sldId id="2571"/>
            <p14:sldId id="2572"/>
            <p14:sldId id="2573"/>
            <p14:sldId id="2574"/>
          </p14:sldIdLst>
        </p14:section>
        <p14:section name="Advanced Techniques and Best Practices" id="{217A96DF-372B-47FC-828D-2C633A66A825}">
          <p14:sldIdLst>
            <p14:sldId id="2575"/>
            <p14:sldId id="2576"/>
            <p14:sldId id="2577"/>
            <p14:sldId id="2578"/>
          </p14:sldIdLst>
        </p14:section>
        <p14:section name="Conclusion" id="{EEA8AE6D-8EF6-4727-A7FE-3FE30A04466C}">
          <p14:sldIdLst>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97" d="100"/>
          <a:sy n="97" d="100"/>
        </p:scale>
        <p:origin x="996" y="306"/>
      </p:cViewPr>
      <p:guideLst/>
    </p:cSldViewPr>
  </p:slideViewPr>
  <p:notesTextViewPr>
    <p:cViewPr>
      <p:scale>
        <a:sx n="1" d="1"/>
        <a:sy n="1" d="1"/>
      </p:scale>
      <p:origin x="0" y="0"/>
    </p:cViewPr>
  </p:notesTextViewPr>
  <p:sorterViewPr>
    <p:cViewPr>
      <p:scale>
        <a:sx n="100" d="100"/>
        <a:sy n="100" d="100"/>
      </p:scale>
      <p:origin x="0" y="-46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E20618-3334-4D23-A763-EDD1A0B07208}"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GB"/>
        </a:p>
      </dgm:t>
    </dgm:pt>
    <dgm:pt modelId="{F1B4C58E-5603-4887-A034-C8E07572F51C}">
      <dgm:prSet phldrT="[Text]" phldr="0" custT="1"/>
      <dgm:spPr/>
      <dgm:t>
        <a:bodyPr/>
        <a:lstStyle/>
        <a:p>
          <a:r>
            <a:rPr lang="fr-FR" sz="2400" dirty="0"/>
            <a:t>Read fuel records</a:t>
          </a:r>
          <a:endParaRPr lang="en-GB" sz="2400" dirty="0"/>
        </a:p>
      </dgm:t>
    </dgm:pt>
    <dgm:pt modelId="{E0F169DF-44C0-4FC8-8AA5-F3753F656EB4}" type="parTrans" cxnId="{FE6120FD-F92E-4B00-8E15-6CAB662C9F56}">
      <dgm:prSet/>
      <dgm:spPr/>
      <dgm:t>
        <a:bodyPr/>
        <a:lstStyle/>
        <a:p>
          <a:endParaRPr lang="en-GB"/>
        </a:p>
      </dgm:t>
    </dgm:pt>
    <dgm:pt modelId="{8454E944-84E3-42C9-B1BC-5F10EB3B8152}" type="sibTrans" cxnId="{FE6120FD-F92E-4B00-8E15-6CAB662C9F56}">
      <dgm:prSet/>
      <dgm:spPr/>
      <dgm:t>
        <a:bodyPr/>
        <a:lstStyle/>
        <a:p>
          <a:endParaRPr lang="en-GB"/>
        </a:p>
      </dgm:t>
    </dgm:pt>
    <dgm:pt modelId="{99771CC7-8369-459D-B29A-CAF5D0F6B358}">
      <dgm:prSet phldrT="[Text]" phldr="0" custT="1"/>
      <dgm:spPr>
        <a:solidFill>
          <a:srgbClr val="734B67">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spcFirstLastPara="0" vert="horz" wrap="square" lIns="106680" tIns="106680" rIns="106680" bIns="106680" numCol="1" spcCol="1270" anchor="ctr" anchorCtr="0"/>
        <a:lstStyle/>
        <a:p>
          <a:r>
            <a:rPr lang="fr-FR" sz="2400" dirty="0" err="1"/>
            <a:t>Extend</a:t>
          </a:r>
          <a:r>
            <a:rPr lang="fr-FR" sz="2400" dirty="0"/>
            <a:t> </a:t>
          </a:r>
          <a:r>
            <a:rPr lang="fr-FR" sz="2400" dirty="0" err="1"/>
            <a:t>each</a:t>
          </a:r>
          <a:r>
            <a:rPr lang="fr-FR" sz="2400" dirty="0"/>
            <a:t> fuel record </a:t>
          </a:r>
          <a:r>
            <a:rPr lang="fr-FR" sz="2400" dirty="0" err="1"/>
            <a:t>with</a:t>
          </a:r>
          <a:r>
            <a:rPr lang="fr-FR" sz="2400" dirty="0"/>
            <a:t> flight data</a:t>
          </a:r>
          <a:endParaRPr lang="en-GB" sz="2400" dirty="0"/>
        </a:p>
      </dgm:t>
    </dgm:pt>
    <dgm:pt modelId="{9EBC92B4-EDB2-4B3C-9C8F-A79C7014174A}" type="parTrans" cxnId="{CFC188F7-D1AE-472F-9A5F-5F9229820416}">
      <dgm:prSet/>
      <dgm:spPr/>
      <dgm:t>
        <a:bodyPr/>
        <a:lstStyle/>
        <a:p>
          <a:endParaRPr lang="en-GB"/>
        </a:p>
      </dgm:t>
    </dgm:pt>
    <dgm:pt modelId="{29023DD7-1212-4167-B49E-5EF8AC4EC046}" type="sibTrans" cxnId="{CFC188F7-D1AE-472F-9A5F-5F9229820416}">
      <dgm:prSet/>
      <dgm:spPr/>
      <dgm:t>
        <a:bodyPr/>
        <a:lstStyle/>
        <a:p>
          <a:endParaRPr lang="en-GB"/>
        </a:p>
      </dgm:t>
    </dgm:pt>
    <dgm:pt modelId="{1E6DA972-FDD2-4708-B528-666723D19B26}">
      <dgm:prSet phldrT="[Text]" phldr="0"/>
      <dgm:spPr/>
      <dgm:t>
        <a:bodyPr/>
        <a:lstStyle/>
        <a:p>
          <a:r>
            <a:rPr lang="fr-FR" dirty="0" err="1"/>
            <a:t>Scale</a:t>
          </a:r>
          <a:r>
            <a:rPr lang="fr-FR" dirty="0"/>
            <a:t> and encode </a:t>
          </a:r>
          <a:r>
            <a:rPr lang="fr-FR" dirty="0" err="1"/>
            <a:t>aircraft</a:t>
          </a:r>
          <a:r>
            <a:rPr lang="fr-FR" dirty="0"/>
            <a:t> </a:t>
          </a:r>
          <a:r>
            <a:rPr lang="fr-FR" dirty="0" err="1"/>
            <a:t>icao</a:t>
          </a:r>
          <a:r>
            <a:rPr lang="fr-FR" dirty="0"/>
            <a:t> code</a:t>
          </a:r>
          <a:endParaRPr lang="en-GB" dirty="0"/>
        </a:p>
      </dgm:t>
    </dgm:pt>
    <dgm:pt modelId="{3329E2AB-4611-45A1-A1F4-21DA26BF574D}" type="parTrans" cxnId="{CAC75AC2-8671-4E5A-BEF2-B169ECDFC252}">
      <dgm:prSet/>
      <dgm:spPr/>
      <dgm:t>
        <a:bodyPr/>
        <a:lstStyle/>
        <a:p>
          <a:endParaRPr lang="en-GB"/>
        </a:p>
      </dgm:t>
    </dgm:pt>
    <dgm:pt modelId="{27526302-406D-400E-8254-5000C1F91C2B}" type="sibTrans" cxnId="{CAC75AC2-8671-4E5A-BEF2-B169ECDFC252}">
      <dgm:prSet/>
      <dgm:spPr/>
      <dgm:t>
        <a:bodyPr/>
        <a:lstStyle/>
        <a:p>
          <a:endParaRPr lang="en-GB"/>
        </a:p>
      </dgm:t>
    </dgm:pt>
    <dgm:pt modelId="{F6BE0B80-F4E7-4C85-B685-C3B93A9DA1DA}">
      <dgm:prSet phldrT="[Text]" phldr="0" custT="1"/>
      <dgm:spPr/>
      <dgm:t>
        <a:bodyPr/>
        <a:lstStyle/>
        <a:p>
          <a:r>
            <a:rPr lang="fr-FR" sz="2400" dirty="0"/>
            <a:t>Read Flight </a:t>
          </a:r>
          <a:r>
            <a:rPr lang="fr-FR" sz="2400" dirty="0" err="1"/>
            <a:t>list</a:t>
          </a:r>
          <a:r>
            <a:rPr lang="fr-FR" sz="2400" dirty="0"/>
            <a:t> records</a:t>
          </a:r>
          <a:endParaRPr lang="en-GB" sz="2400" dirty="0"/>
        </a:p>
      </dgm:t>
    </dgm:pt>
    <dgm:pt modelId="{4FF0F82B-FD76-4D73-A7F4-032C73BF6BDC}" type="parTrans" cxnId="{6F0D444C-D4BE-43A0-A501-9A022C9AF472}">
      <dgm:prSet/>
      <dgm:spPr/>
      <dgm:t>
        <a:bodyPr/>
        <a:lstStyle/>
        <a:p>
          <a:endParaRPr lang="en-GB"/>
        </a:p>
      </dgm:t>
    </dgm:pt>
    <dgm:pt modelId="{FF594958-FB17-4C31-A867-8A4529C0E58D}" type="sibTrans" cxnId="{6F0D444C-D4BE-43A0-A501-9A022C9AF472}">
      <dgm:prSet/>
      <dgm:spPr/>
      <dgm:t>
        <a:bodyPr/>
        <a:lstStyle/>
        <a:p>
          <a:endParaRPr lang="en-GB"/>
        </a:p>
      </dgm:t>
    </dgm:pt>
    <dgm:pt modelId="{F7F1FB3C-CAB9-4968-82E8-E1A5F859DE6B}">
      <dgm:prSet phldrT="[Text]" phldr="0" custT="1"/>
      <dgm:spPr/>
      <dgm:t>
        <a:bodyPr/>
        <a:lstStyle/>
        <a:p>
          <a:r>
            <a:rPr lang="fr-FR" sz="2200" dirty="0" err="1"/>
            <a:t>Extend</a:t>
          </a:r>
          <a:r>
            <a:rPr lang="fr-FR" sz="2200" dirty="0"/>
            <a:t> fuel </a:t>
          </a:r>
          <a:r>
            <a:rPr lang="fr-FR" sz="2400" dirty="0"/>
            <a:t>records</a:t>
          </a:r>
          <a:r>
            <a:rPr lang="fr-FR" sz="2200" dirty="0"/>
            <a:t> </a:t>
          </a:r>
          <a:r>
            <a:rPr lang="fr-FR" sz="2200" dirty="0" err="1"/>
            <a:t>with</a:t>
          </a:r>
          <a:r>
            <a:rPr lang="fr-FR" sz="2200" dirty="0"/>
            <a:t> flight </a:t>
          </a:r>
          <a:r>
            <a:rPr lang="fr-FR" sz="2200" dirty="0" err="1"/>
            <a:t>list</a:t>
          </a:r>
          <a:r>
            <a:rPr lang="fr-FR" sz="2200" dirty="0"/>
            <a:t> data</a:t>
          </a:r>
          <a:endParaRPr lang="en-GB" sz="2200" dirty="0"/>
        </a:p>
      </dgm:t>
    </dgm:pt>
    <dgm:pt modelId="{4EF70FD9-3DCE-4FCC-8406-1B9477F6E8C8}" type="parTrans" cxnId="{4CCDD481-F39D-46E6-A06D-C496C939E6EB}">
      <dgm:prSet/>
      <dgm:spPr/>
      <dgm:t>
        <a:bodyPr/>
        <a:lstStyle/>
        <a:p>
          <a:endParaRPr lang="en-GB"/>
        </a:p>
      </dgm:t>
    </dgm:pt>
    <dgm:pt modelId="{482B78EA-C074-429F-92D7-D942F751055B}" type="sibTrans" cxnId="{4CCDD481-F39D-46E6-A06D-C496C939E6EB}">
      <dgm:prSet/>
      <dgm:spPr/>
      <dgm:t>
        <a:bodyPr/>
        <a:lstStyle/>
        <a:p>
          <a:endParaRPr lang="en-GB"/>
        </a:p>
      </dgm:t>
    </dgm:pt>
    <dgm:pt modelId="{7D25EC70-D507-4F2F-8D58-0D7AC6B5AD9B}">
      <dgm:prSet phldrT="[Text]" phldr="0"/>
      <dgm:spPr/>
      <dgm:t>
        <a:bodyPr/>
        <a:lstStyle/>
        <a:p>
          <a:r>
            <a:rPr lang="fr-FR" dirty="0"/>
            <a:t>Y </a:t>
          </a:r>
          <a:r>
            <a:rPr lang="fr-FR" dirty="0" err="1"/>
            <a:t>column</a:t>
          </a:r>
          <a:r>
            <a:rPr lang="fr-FR" dirty="0"/>
            <a:t> </a:t>
          </a:r>
          <a:r>
            <a:rPr lang="fr-FR" dirty="0" err="1"/>
            <a:t>is</a:t>
          </a:r>
          <a:r>
            <a:rPr lang="fr-FR" dirty="0"/>
            <a:t> fuel flow kg </a:t>
          </a:r>
          <a:r>
            <a:rPr lang="fr-FR"/>
            <a:t>per seconds</a:t>
          </a:r>
          <a:endParaRPr lang="en-GB" dirty="0"/>
        </a:p>
      </dgm:t>
    </dgm:pt>
    <dgm:pt modelId="{F8518EE7-B159-4FA5-B579-8D85298D6E34}" type="parTrans" cxnId="{FCBC01B0-7670-46A3-A6B7-1B4A1853B57B}">
      <dgm:prSet/>
      <dgm:spPr/>
      <dgm:t>
        <a:bodyPr/>
        <a:lstStyle/>
        <a:p>
          <a:endParaRPr lang="en-GB"/>
        </a:p>
      </dgm:t>
    </dgm:pt>
    <dgm:pt modelId="{297FC97D-FCA5-474C-9026-D4E9FBBE6689}" type="sibTrans" cxnId="{FCBC01B0-7670-46A3-A6B7-1B4A1853B57B}">
      <dgm:prSet/>
      <dgm:spPr/>
      <dgm:t>
        <a:bodyPr/>
        <a:lstStyle/>
        <a:p>
          <a:endParaRPr lang="en-GB"/>
        </a:p>
      </dgm:t>
    </dgm:pt>
    <dgm:pt modelId="{1EAC013E-27F5-455C-8325-045718DE1F72}" type="pres">
      <dgm:prSet presAssocID="{F1E20618-3334-4D23-A763-EDD1A0B07208}" presName="CompostProcess" presStyleCnt="0">
        <dgm:presLayoutVars>
          <dgm:dir/>
          <dgm:resizeHandles val="exact"/>
        </dgm:presLayoutVars>
      </dgm:prSet>
      <dgm:spPr/>
    </dgm:pt>
    <dgm:pt modelId="{93B89E9B-11A8-4EAC-B023-AC2CEE43FF1F}" type="pres">
      <dgm:prSet presAssocID="{F1E20618-3334-4D23-A763-EDD1A0B07208}" presName="arrow" presStyleLbl="bgShp" presStyleIdx="0" presStyleCnt="1"/>
      <dgm:spPr/>
    </dgm:pt>
    <dgm:pt modelId="{9318BD87-E08F-414E-AE3B-DAF8E34F130D}" type="pres">
      <dgm:prSet presAssocID="{F1E20618-3334-4D23-A763-EDD1A0B07208}" presName="linearProcess" presStyleCnt="0"/>
      <dgm:spPr/>
    </dgm:pt>
    <dgm:pt modelId="{CAA3C38C-D8B1-459D-B15F-FDAB18545B01}" type="pres">
      <dgm:prSet presAssocID="{F1B4C58E-5603-4887-A034-C8E07572F51C}" presName="textNode" presStyleLbl="node1" presStyleIdx="0" presStyleCnt="6" custScaleX="54423" custScaleY="62085" custLinFactX="-7571" custLinFactNeighborX="-100000" custLinFactNeighborY="-29563">
        <dgm:presLayoutVars>
          <dgm:bulletEnabled val="1"/>
        </dgm:presLayoutVars>
      </dgm:prSet>
      <dgm:spPr/>
    </dgm:pt>
    <dgm:pt modelId="{57F3B775-86B2-4AA8-BA4E-D4A85522F066}" type="pres">
      <dgm:prSet presAssocID="{8454E944-84E3-42C9-B1BC-5F10EB3B8152}" presName="sibTrans" presStyleCnt="0"/>
      <dgm:spPr/>
    </dgm:pt>
    <dgm:pt modelId="{3D1610C2-6527-4676-9D77-DDD921637B80}" type="pres">
      <dgm:prSet presAssocID="{99771CC7-8369-459D-B29A-CAF5D0F6B358}" presName="textNode" presStyleLbl="node1" presStyleIdx="1" presStyleCnt="6" custScaleX="75590" custScaleY="81012" custLinFactX="48511" custLinFactNeighborX="100000" custLinFactNeighborY="18961">
        <dgm:presLayoutVars>
          <dgm:bulletEnabled val="1"/>
        </dgm:presLayoutVars>
      </dgm:prSet>
      <dgm:spPr>
        <a:xfrm>
          <a:off x="2755899" y="1625600"/>
          <a:ext cx="2616200" cy="2167466"/>
        </a:xfrm>
        <a:prstGeom prst="roundRect">
          <a:avLst/>
        </a:prstGeom>
      </dgm:spPr>
    </dgm:pt>
    <dgm:pt modelId="{ED57D4DE-CC90-47D8-A69D-C2893AD8AFAB}" type="pres">
      <dgm:prSet presAssocID="{29023DD7-1212-4167-B49E-5EF8AC4EC046}" presName="sibTrans" presStyleCnt="0"/>
      <dgm:spPr/>
    </dgm:pt>
    <dgm:pt modelId="{16C2B7EF-E3E0-4782-A787-0CD31910CF42}" type="pres">
      <dgm:prSet presAssocID="{1E6DA972-FDD2-4708-B528-666723D19B26}" presName="textNode" presStyleLbl="node1" presStyleIdx="2" presStyleCnt="6" custScaleX="42600" custScaleY="74288" custLinFactX="45948" custLinFactNeighborX="100000" custLinFactNeighborY="-2446">
        <dgm:presLayoutVars>
          <dgm:bulletEnabled val="1"/>
        </dgm:presLayoutVars>
      </dgm:prSet>
      <dgm:spPr/>
    </dgm:pt>
    <dgm:pt modelId="{658668B4-BE92-4114-BA76-05A4BEF8A95C}" type="pres">
      <dgm:prSet presAssocID="{27526302-406D-400E-8254-5000C1F91C2B}" presName="sibTrans" presStyleCnt="0"/>
      <dgm:spPr/>
    </dgm:pt>
    <dgm:pt modelId="{69D641B2-4062-4D68-91B7-2C4142688229}" type="pres">
      <dgm:prSet presAssocID="{F6BE0B80-F4E7-4C85-B685-C3B93A9DA1DA}" presName="textNode" presStyleLbl="node1" presStyleIdx="3" presStyleCnt="6" custScaleX="54423" custScaleY="62085" custLinFactX="-174159" custLinFactNeighborX="-200000" custLinFactNeighborY="31043">
        <dgm:presLayoutVars>
          <dgm:bulletEnabled val="1"/>
        </dgm:presLayoutVars>
      </dgm:prSet>
      <dgm:spPr/>
    </dgm:pt>
    <dgm:pt modelId="{6AC42A82-96D2-4F39-A95C-60A9B9E0E896}" type="pres">
      <dgm:prSet presAssocID="{FF594958-FB17-4C31-A867-8A4529C0E58D}" presName="sibTrans" presStyleCnt="0"/>
      <dgm:spPr/>
    </dgm:pt>
    <dgm:pt modelId="{C1921E07-28BD-4D3D-A763-E8266277BDF3}" type="pres">
      <dgm:prSet presAssocID="{F7F1FB3C-CAB9-4968-82E8-E1A5F859DE6B}" presName="textNode" presStyleLbl="node1" presStyleIdx="4" presStyleCnt="6" custScaleX="54423" custScaleY="62085" custLinFactX="-181523" custLinFactNeighborX="-200000" custLinFactNeighborY="-9955">
        <dgm:presLayoutVars>
          <dgm:bulletEnabled val="1"/>
        </dgm:presLayoutVars>
      </dgm:prSet>
      <dgm:spPr/>
    </dgm:pt>
    <dgm:pt modelId="{5DCFB0EA-67CB-4630-86DE-99667DF73AB2}" type="pres">
      <dgm:prSet presAssocID="{482B78EA-C074-429F-92D7-D942F751055B}" presName="sibTrans" presStyleCnt="0"/>
      <dgm:spPr/>
    </dgm:pt>
    <dgm:pt modelId="{FA489B95-154B-4937-A12B-0D611B20E4B6}" type="pres">
      <dgm:prSet presAssocID="{7D25EC70-D507-4F2F-8D58-0D7AC6B5AD9B}" presName="textNode" presStyleLbl="node1" presStyleIdx="5" presStyleCnt="6" custScaleX="42600" custScaleY="74288" custLinFactX="-51203" custLinFactNeighborX="-100000" custLinFactNeighborY="0">
        <dgm:presLayoutVars>
          <dgm:bulletEnabled val="1"/>
        </dgm:presLayoutVars>
      </dgm:prSet>
      <dgm:spPr/>
    </dgm:pt>
  </dgm:ptLst>
  <dgm:cxnLst>
    <dgm:cxn modelId="{D5CAC929-DB80-4737-A667-51C3A888CC98}" type="presOf" srcId="{7D25EC70-D507-4F2F-8D58-0D7AC6B5AD9B}" destId="{FA489B95-154B-4937-A12B-0D611B20E4B6}" srcOrd="0" destOrd="0" presId="urn:microsoft.com/office/officeart/2005/8/layout/hProcess9"/>
    <dgm:cxn modelId="{4B2E6733-33C0-44D4-BB63-76FA5F2D5633}" type="presOf" srcId="{F7F1FB3C-CAB9-4968-82E8-E1A5F859DE6B}" destId="{C1921E07-28BD-4D3D-A763-E8266277BDF3}" srcOrd="0" destOrd="0" presId="urn:microsoft.com/office/officeart/2005/8/layout/hProcess9"/>
    <dgm:cxn modelId="{6F0D444C-D4BE-43A0-A501-9A022C9AF472}" srcId="{F1E20618-3334-4D23-A763-EDD1A0B07208}" destId="{F6BE0B80-F4E7-4C85-B685-C3B93A9DA1DA}" srcOrd="3" destOrd="0" parTransId="{4FF0F82B-FD76-4D73-A7F4-032C73BF6BDC}" sibTransId="{FF594958-FB17-4C31-A867-8A4529C0E58D}"/>
    <dgm:cxn modelId="{2A83984C-DE53-45DB-B6AD-BDF6B5FA9B38}" type="presOf" srcId="{99771CC7-8369-459D-B29A-CAF5D0F6B358}" destId="{3D1610C2-6527-4676-9D77-DDD921637B80}" srcOrd="0" destOrd="0" presId="urn:microsoft.com/office/officeart/2005/8/layout/hProcess9"/>
    <dgm:cxn modelId="{6064414D-4DCC-4A6E-8634-42A656EF90B6}" type="presOf" srcId="{F6BE0B80-F4E7-4C85-B685-C3B93A9DA1DA}" destId="{69D641B2-4062-4D68-91B7-2C4142688229}" srcOrd="0" destOrd="0" presId="urn:microsoft.com/office/officeart/2005/8/layout/hProcess9"/>
    <dgm:cxn modelId="{22EE0572-365D-485B-95FF-40F87CEA8408}" type="presOf" srcId="{F1B4C58E-5603-4887-A034-C8E07572F51C}" destId="{CAA3C38C-D8B1-459D-B15F-FDAB18545B01}" srcOrd="0" destOrd="0" presId="urn:microsoft.com/office/officeart/2005/8/layout/hProcess9"/>
    <dgm:cxn modelId="{4CCDD481-F39D-46E6-A06D-C496C939E6EB}" srcId="{F1E20618-3334-4D23-A763-EDD1A0B07208}" destId="{F7F1FB3C-CAB9-4968-82E8-E1A5F859DE6B}" srcOrd="4" destOrd="0" parTransId="{4EF70FD9-3DCE-4FCC-8406-1B9477F6E8C8}" sibTransId="{482B78EA-C074-429F-92D7-D942F751055B}"/>
    <dgm:cxn modelId="{18CE9AAA-C094-4FE5-9CC8-26ABA422028E}" type="presOf" srcId="{1E6DA972-FDD2-4708-B528-666723D19B26}" destId="{16C2B7EF-E3E0-4782-A787-0CD31910CF42}" srcOrd="0" destOrd="0" presId="urn:microsoft.com/office/officeart/2005/8/layout/hProcess9"/>
    <dgm:cxn modelId="{FCBC01B0-7670-46A3-A6B7-1B4A1853B57B}" srcId="{F1E20618-3334-4D23-A763-EDD1A0B07208}" destId="{7D25EC70-D507-4F2F-8D58-0D7AC6B5AD9B}" srcOrd="5" destOrd="0" parTransId="{F8518EE7-B159-4FA5-B579-8D85298D6E34}" sibTransId="{297FC97D-FCA5-474C-9026-D4E9FBBE6689}"/>
    <dgm:cxn modelId="{CAC75AC2-8671-4E5A-BEF2-B169ECDFC252}" srcId="{F1E20618-3334-4D23-A763-EDD1A0B07208}" destId="{1E6DA972-FDD2-4708-B528-666723D19B26}" srcOrd="2" destOrd="0" parTransId="{3329E2AB-4611-45A1-A1F4-21DA26BF574D}" sibTransId="{27526302-406D-400E-8254-5000C1F91C2B}"/>
    <dgm:cxn modelId="{C8700BE5-1BFB-4165-B504-71062405B109}" type="presOf" srcId="{F1E20618-3334-4D23-A763-EDD1A0B07208}" destId="{1EAC013E-27F5-455C-8325-045718DE1F72}" srcOrd="0" destOrd="0" presId="urn:microsoft.com/office/officeart/2005/8/layout/hProcess9"/>
    <dgm:cxn modelId="{CFC188F7-D1AE-472F-9A5F-5F9229820416}" srcId="{F1E20618-3334-4D23-A763-EDD1A0B07208}" destId="{99771CC7-8369-459D-B29A-CAF5D0F6B358}" srcOrd="1" destOrd="0" parTransId="{9EBC92B4-EDB2-4B3C-9C8F-A79C7014174A}" sibTransId="{29023DD7-1212-4167-B49E-5EF8AC4EC046}"/>
    <dgm:cxn modelId="{FE6120FD-F92E-4B00-8E15-6CAB662C9F56}" srcId="{F1E20618-3334-4D23-A763-EDD1A0B07208}" destId="{F1B4C58E-5603-4887-A034-C8E07572F51C}" srcOrd="0" destOrd="0" parTransId="{E0F169DF-44C0-4FC8-8AA5-F3753F656EB4}" sibTransId="{8454E944-84E3-42C9-B1BC-5F10EB3B8152}"/>
    <dgm:cxn modelId="{37E059DB-1F37-471E-B1B5-EC30C7DD3194}" type="presParOf" srcId="{1EAC013E-27F5-455C-8325-045718DE1F72}" destId="{93B89E9B-11A8-4EAC-B023-AC2CEE43FF1F}" srcOrd="0" destOrd="0" presId="urn:microsoft.com/office/officeart/2005/8/layout/hProcess9"/>
    <dgm:cxn modelId="{33DA4D59-08AC-404E-9A20-49FEE13EBA0C}" type="presParOf" srcId="{1EAC013E-27F5-455C-8325-045718DE1F72}" destId="{9318BD87-E08F-414E-AE3B-DAF8E34F130D}" srcOrd="1" destOrd="0" presId="urn:microsoft.com/office/officeart/2005/8/layout/hProcess9"/>
    <dgm:cxn modelId="{08C8C363-C69D-40BB-BDF6-B0A88532115D}" type="presParOf" srcId="{9318BD87-E08F-414E-AE3B-DAF8E34F130D}" destId="{CAA3C38C-D8B1-459D-B15F-FDAB18545B01}" srcOrd="0" destOrd="0" presId="urn:microsoft.com/office/officeart/2005/8/layout/hProcess9"/>
    <dgm:cxn modelId="{4A8ADB87-A853-4924-8653-92CF78BF0D57}" type="presParOf" srcId="{9318BD87-E08F-414E-AE3B-DAF8E34F130D}" destId="{57F3B775-86B2-4AA8-BA4E-D4A85522F066}" srcOrd="1" destOrd="0" presId="urn:microsoft.com/office/officeart/2005/8/layout/hProcess9"/>
    <dgm:cxn modelId="{462453E9-A5E4-4AC3-ABDC-FD7CB551D0DB}" type="presParOf" srcId="{9318BD87-E08F-414E-AE3B-DAF8E34F130D}" destId="{3D1610C2-6527-4676-9D77-DDD921637B80}" srcOrd="2" destOrd="0" presId="urn:microsoft.com/office/officeart/2005/8/layout/hProcess9"/>
    <dgm:cxn modelId="{16CA3E99-149F-4C88-B94A-926A7DC0D24F}" type="presParOf" srcId="{9318BD87-E08F-414E-AE3B-DAF8E34F130D}" destId="{ED57D4DE-CC90-47D8-A69D-C2893AD8AFAB}" srcOrd="3" destOrd="0" presId="urn:microsoft.com/office/officeart/2005/8/layout/hProcess9"/>
    <dgm:cxn modelId="{9912B384-8781-4DEB-919F-41286DFFA837}" type="presParOf" srcId="{9318BD87-E08F-414E-AE3B-DAF8E34F130D}" destId="{16C2B7EF-E3E0-4782-A787-0CD31910CF42}" srcOrd="4" destOrd="0" presId="urn:microsoft.com/office/officeart/2005/8/layout/hProcess9"/>
    <dgm:cxn modelId="{FB57BFEC-60EA-43F6-ACDA-3E5B6064D517}" type="presParOf" srcId="{9318BD87-E08F-414E-AE3B-DAF8E34F130D}" destId="{658668B4-BE92-4114-BA76-05A4BEF8A95C}" srcOrd="5" destOrd="0" presId="urn:microsoft.com/office/officeart/2005/8/layout/hProcess9"/>
    <dgm:cxn modelId="{0C30E24C-4055-4CE5-8550-0D90F056BEEA}" type="presParOf" srcId="{9318BD87-E08F-414E-AE3B-DAF8E34F130D}" destId="{69D641B2-4062-4D68-91B7-2C4142688229}" srcOrd="6" destOrd="0" presId="urn:microsoft.com/office/officeart/2005/8/layout/hProcess9"/>
    <dgm:cxn modelId="{21D0CFC2-DDDF-4E23-9B56-2A13BE25F82B}" type="presParOf" srcId="{9318BD87-E08F-414E-AE3B-DAF8E34F130D}" destId="{6AC42A82-96D2-4F39-A95C-60A9B9E0E896}" srcOrd="7" destOrd="0" presId="urn:microsoft.com/office/officeart/2005/8/layout/hProcess9"/>
    <dgm:cxn modelId="{6712FBA4-25B0-426A-A11A-824A7E49FCA4}" type="presParOf" srcId="{9318BD87-E08F-414E-AE3B-DAF8E34F130D}" destId="{C1921E07-28BD-4D3D-A763-E8266277BDF3}" srcOrd="8" destOrd="0" presId="urn:microsoft.com/office/officeart/2005/8/layout/hProcess9"/>
    <dgm:cxn modelId="{81ECD9FA-62AD-4258-BF24-9B8E69CA2282}" type="presParOf" srcId="{9318BD87-E08F-414E-AE3B-DAF8E34F130D}" destId="{5DCFB0EA-67CB-4630-86DE-99667DF73AB2}" srcOrd="9" destOrd="0" presId="urn:microsoft.com/office/officeart/2005/8/layout/hProcess9"/>
    <dgm:cxn modelId="{B991827E-FA36-4A79-903F-A225B698A2AC}" type="presParOf" srcId="{9318BD87-E08F-414E-AE3B-DAF8E34F130D}" destId="{FA489B95-154B-4937-A12B-0D611B20E4B6}"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8D34AE-2D38-4625-9286-631AEC83D7EC}"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454FBC68-A7C1-4ED0-A6E2-D12B35A078CE}">
      <dgm:prSet/>
      <dgm:spPr/>
      <dgm:t>
        <a:bodyPr/>
        <a:lstStyle/>
        <a:p>
          <a:pPr>
            <a:lnSpc>
              <a:spcPct val="100000"/>
            </a:lnSpc>
            <a:defRPr b="1"/>
          </a:pPr>
          <a:r>
            <a:rPr lang="en-US"/>
            <a:t>Versatile Platform</a:t>
          </a:r>
        </a:p>
      </dgm:t>
    </dgm:pt>
    <dgm:pt modelId="{1EB9C1AD-16D4-441D-826D-0F46D5C86EA6}" type="parTrans" cxnId="{79CDA1C9-25E7-43FA-B0D0-B1CC0F8D7A17}">
      <dgm:prSet/>
      <dgm:spPr/>
      <dgm:t>
        <a:bodyPr/>
        <a:lstStyle/>
        <a:p>
          <a:endParaRPr lang="en-US"/>
        </a:p>
      </dgm:t>
    </dgm:pt>
    <dgm:pt modelId="{B367E115-335F-47FA-AFF4-69004E4801C3}" type="sibTrans" cxnId="{79CDA1C9-25E7-43FA-B0D0-B1CC0F8D7A17}">
      <dgm:prSet/>
      <dgm:spPr/>
      <dgm:t>
        <a:bodyPr/>
        <a:lstStyle/>
        <a:p>
          <a:pPr>
            <a:lnSpc>
              <a:spcPct val="100000"/>
            </a:lnSpc>
            <a:defRPr b="1"/>
          </a:pPr>
          <a:endParaRPr lang="en-US"/>
        </a:p>
      </dgm:t>
    </dgm:pt>
    <dgm:pt modelId="{B5297102-D6CA-46B2-80E2-F003D0403375}">
      <dgm:prSet/>
      <dgm:spPr/>
      <dgm:t>
        <a:bodyPr/>
        <a:lstStyle/>
        <a:p>
          <a:pPr>
            <a:lnSpc>
              <a:spcPct val="100000"/>
            </a:lnSpc>
          </a:pPr>
          <a:r>
            <a:rPr lang="en-US"/>
            <a:t>TensorFlow offers a flexible platform supporting various regression analysis techniques for diverse applications.</a:t>
          </a:r>
        </a:p>
      </dgm:t>
    </dgm:pt>
    <dgm:pt modelId="{AF54A981-BC72-4690-BC60-3943168B6D7F}" type="parTrans" cxnId="{F3C58B6D-02B2-4B0A-B21C-3B13348B23F2}">
      <dgm:prSet/>
      <dgm:spPr/>
      <dgm:t>
        <a:bodyPr/>
        <a:lstStyle/>
        <a:p>
          <a:endParaRPr lang="en-US"/>
        </a:p>
      </dgm:t>
    </dgm:pt>
    <dgm:pt modelId="{6F7B89FE-33C2-4CBC-A1A2-E76AA6ACAAAC}" type="sibTrans" cxnId="{F3C58B6D-02B2-4B0A-B21C-3B13348B23F2}">
      <dgm:prSet/>
      <dgm:spPr/>
      <dgm:t>
        <a:bodyPr/>
        <a:lstStyle/>
        <a:p>
          <a:endParaRPr lang="en-US"/>
        </a:p>
      </dgm:t>
    </dgm:pt>
    <dgm:pt modelId="{EBC69B32-166C-4A0E-BB52-1A92827B7E22}">
      <dgm:prSet/>
      <dgm:spPr/>
      <dgm:t>
        <a:bodyPr/>
        <a:lstStyle/>
        <a:p>
          <a:pPr>
            <a:lnSpc>
              <a:spcPct val="100000"/>
            </a:lnSpc>
            <a:defRPr b="1"/>
          </a:pPr>
          <a:r>
            <a:rPr lang="en-US"/>
            <a:t>Comprehensive Tools</a:t>
          </a:r>
        </a:p>
      </dgm:t>
    </dgm:pt>
    <dgm:pt modelId="{9405E691-93D5-4471-A8DD-2F22025D908F}" type="parTrans" cxnId="{F76B2C2E-8B48-4F2C-9A57-7BC8F7D7B80C}">
      <dgm:prSet/>
      <dgm:spPr/>
      <dgm:t>
        <a:bodyPr/>
        <a:lstStyle/>
        <a:p>
          <a:endParaRPr lang="en-US"/>
        </a:p>
      </dgm:t>
    </dgm:pt>
    <dgm:pt modelId="{90E2D921-90DF-40E9-B02B-F131BE288B31}" type="sibTrans" cxnId="{F76B2C2E-8B48-4F2C-9A57-7BC8F7D7B80C}">
      <dgm:prSet/>
      <dgm:spPr/>
      <dgm:t>
        <a:bodyPr/>
        <a:lstStyle/>
        <a:p>
          <a:pPr>
            <a:lnSpc>
              <a:spcPct val="100000"/>
            </a:lnSpc>
            <a:defRPr b="1"/>
          </a:pPr>
          <a:endParaRPr lang="en-US"/>
        </a:p>
      </dgm:t>
    </dgm:pt>
    <dgm:pt modelId="{C805C9C9-FAC4-4167-A570-D7B603B2528F}">
      <dgm:prSet/>
      <dgm:spPr/>
      <dgm:t>
        <a:bodyPr/>
        <a:lstStyle/>
        <a:p>
          <a:pPr>
            <a:lnSpc>
              <a:spcPct val="100000"/>
            </a:lnSpc>
          </a:pPr>
          <a:r>
            <a:rPr lang="en-US"/>
            <a:t>The platform provides comprehensive tools enabling both foundational and advanced regression modelling.</a:t>
          </a:r>
        </a:p>
      </dgm:t>
    </dgm:pt>
    <dgm:pt modelId="{0B972A85-0826-4FBE-A425-9061C6357788}" type="parTrans" cxnId="{F0D6296F-77F4-41F1-AFFE-AEBF77C4F6CF}">
      <dgm:prSet/>
      <dgm:spPr/>
      <dgm:t>
        <a:bodyPr/>
        <a:lstStyle/>
        <a:p>
          <a:endParaRPr lang="en-US"/>
        </a:p>
      </dgm:t>
    </dgm:pt>
    <dgm:pt modelId="{5E5079CE-C31F-4B2B-AD1E-3421BDFC5A49}" type="sibTrans" cxnId="{F0D6296F-77F4-41F1-AFFE-AEBF77C4F6CF}">
      <dgm:prSet/>
      <dgm:spPr/>
      <dgm:t>
        <a:bodyPr/>
        <a:lstStyle/>
        <a:p>
          <a:endParaRPr lang="en-US"/>
        </a:p>
      </dgm:t>
    </dgm:pt>
    <dgm:pt modelId="{1C6D6C4E-3913-4BE7-9D68-8F69CE9E2EBB}">
      <dgm:prSet/>
      <dgm:spPr/>
      <dgm:t>
        <a:bodyPr/>
        <a:lstStyle/>
        <a:p>
          <a:pPr>
            <a:lnSpc>
              <a:spcPct val="100000"/>
            </a:lnSpc>
            <a:defRPr b="1"/>
          </a:pPr>
          <a:r>
            <a:rPr lang="en-US"/>
            <a:t>Powerful Predictive Solutions</a:t>
          </a:r>
        </a:p>
      </dgm:t>
    </dgm:pt>
    <dgm:pt modelId="{4C91C3B5-3F9A-40F1-9FBF-349B2C4A59A1}" type="parTrans" cxnId="{BB492A1B-BCE7-4D9B-B394-F49FA5C9EB10}">
      <dgm:prSet/>
      <dgm:spPr/>
      <dgm:t>
        <a:bodyPr/>
        <a:lstStyle/>
        <a:p>
          <a:endParaRPr lang="en-US"/>
        </a:p>
      </dgm:t>
    </dgm:pt>
    <dgm:pt modelId="{49F76E65-D61B-45D2-A909-4B90ACEA440A}" type="sibTrans" cxnId="{BB492A1B-BCE7-4D9B-B394-F49FA5C9EB10}">
      <dgm:prSet/>
      <dgm:spPr/>
      <dgm:t>
        <a:bodyPr/>
        <a:lstStyle/>
        <a:p>
          <a:endParaRPr lang="en-US"/>
        </a:p>
      </dgm:t>
    </dgm:pt>
    <dgm:pt modelId="{CA18CD18-FA80-4826-90C9-D3A4900F0A60}">
      <dgm:prSet/>
      <dgm:spPr/>
      <dgm:t>
        <a:bodyPr/>
        <a:lstStyle/>
        <a:p>
          <a:pPr>
            <a:lnSpc>
              <a:spcPct val="100000"/>
            </a:lnSpc>
          </a:pPr>
          <a:r>
            <a:rPr lang="en-US"/>
            <a:t>Applying TensorFlow’s techniques unlocks powerful predictive solutions across multiple domains and industries.</a:t>
          </a:r>
        </a:p>
      </dgm:t>
    </dgm:pt>
    <dgm:pt modelId="{4B5D7935-63A9-4629-A903-D79D546E6228}" type="parTrans" cxnId="{4B9A46EF-D05A-4F9F-B06E-23C48FC8543F}">
      <dgm:prSet/>
      <dgm:spPr/>
      <dgm:t>
        <a:bodyPr/>
        <a:lstStyle/>
        <a:p>
          <a:endParaRPr lang="en-US"/>
        </a:p>
      </dgm:t>
    </dgm:pt>
    <dgm:pt modelId="{ED6D794D-52F4-4A92-B4EA-9466DE261466}" type="sibTrans" cxnId="{4B9A46EF-D05A-4F9F-B06E-23C48FC8543F}">
      <dgm:prSet/>
      <dgm:spPr/>
      <dgm:t>
        <a:bodyPr/>
        <a:lstStyle/>
        <a:p>
          <a:endParaRPr lang="en-US"/>
        </a:p>
      </dgm:t>
    </dgm:pt>
    <dgm:pt modelId="{4EF658E8-C500-48E8-B056-EDB068B7ED37}" type="pres">
      <dgm:prSet presAssocID="{1F8D34AE-2D38-4625-9286-631AEC83D7EC}" presName="Name0" presStyleCnt="0">
        <dgm:presLayoutVars>
          <dgm:dir/>
          <dgm:resizeHandles val="exact"/>
        </dgm:presLayoutVars>
      </dgm:prSet>
      <dgm:spPr/>
    </dgm:pt>
    <dgm:pt modelId="{B1F9FF3D-FBFB-42DD-ABDB-E083333BF4B1}" type="pres">
      <dgm:prSet presAssocID="{454FBC68-A7C1-4ED0-A6E2-D12B35A078CE}" presName="compNode" presStyleCnt="0"/>
      <dgm:spPr/>
    </dgm:pt>
    <dgm:pt modelId="{85BFD0DD-56A0-4846-A302-01CD3643539F}" type="pres">
      <dgm:prSet presAssocID="{454FBC68-A7C1-4ED0-A6E2-D12B35A078CE}" presName="pictRect" presStyleLbl="revTx" presStyleIdx="0" presStyleCnt="6">
        <dgm:presLayoutVars>
          <dgm:chMax val="0"/>
          <dgm:bulletEnabled/>
        </dgm:presLayoutVars>
      </dgm:prSet>
      <dgm:spPr/>
    </dgm:pt>
    <dgm:pt modelId="{78C655CC-C0EE-42CA-9464-048DAB7A2C85}" type="pres">
      <dgm:prSet presAssocID="{454FBC68-A7C1-4ED0-A6E2-D12B35A078CE}" presName="textRect" presStyleLbl="revTx" presStyleIdx="1" presStyleCnt="6">
        <dgm:presLayoutVars>
          <dgm:bulletEnabled/>
        </dgm:presLayoutVars>
      </dgm:prSet>
      <dgm:spPr/>
    </dgm:pt>
    <dgm:pt modelId="{B0C4781A-B8C2-4B70-8A6D-EF2F10DFE4A3}" type="pres">
      <dgm:prSet presAssocID="{B367E115-335F-47FA-AFF4-69004E4801C3}" presName="sibTrans" presStyleLbl="sibTrans2D1" presStyleIdx="0" presStyleCnt="0"/>
      <dgm:spPr/>
    </dgm:pt>
    <dgm:pt modelId="{002917C8-E267-45FC-B3B7-1E56A8D5317F}" type="pres">
      <dgm:prSet presAssocID="{EBC69B32-166C-4A0E-BB52-1A92827B7E22}" presName="compNode" presStyleCnt="0"/>
      <dgm:spPr/>
    </dgm:pt>
    <dgm:pt modelId="{CF5383AF-93BD-4172-9AFA-05D3F972A78C}" type="pres">
      <dgm:prSet presAssocID="{EBC69B32-166C-4A0E-BB52-1A92827B7E22}" presName="pictRect" presStyleLbl="revTx" presStyleIdx="2" presStyleCnt="6">
        <dgm:presLayoutVars>
          <dgm:chMax val="0"/>
          <dgm:bulletEnabled/>
        </dgm:presLayoutVars>
      </dgm:prSet>
      <dgm:spPr/>
    </dgm:pt>
    <dgm:pt modelId="{9E3EABEC-427A-4187-99AC-0D13985B3B04}" type="pres">
      <dgm:prSet presAssocID="{EBC69B32-166C-4A0E-BB52-1A92827B7E22}" presName="textRect" presStyleLbl="revTx" presStyleIdx="3" presStyleCnt="6">
        <dgm:presLayoutVars>
          <dgm:bulletEnabled/>
        </dgm:presLayoutVars>
      </dgm:prSet>
      <dgm:spPr/>
    </dgm:pt>
    <dgm:pt modelId="{065B725F-888E-49E3-AD1B-B5DAC8BDCF01}" type="pres">
      <dgm:prSet presAssocID="{90E2D921-90DF-40E9-B02B-F131BE288B31}" presName="sibTrans" presStyleLbl="sibTrans2D1" presStyleIdx="0" presStyleCnt="0"/>
      <dgm:spPr/>
    </dgm:pt>
    <dgm:pt modelId="{328C1A88-DB3A-425B-B624-BCC73EF7F419}" type="pres">
      <dgm:prSet presAssocID="{1C6D6C4E-3913-4BE7-9D68-8F69CE9E2EBB}" presName="compNode" presStyleCnt="0"/>
      <dgm:spPr/>
    </dgm:pt>
    <dgm:pt modelId="{AA8F06D0-A1F2-4B07-ACEC-B7697BB38923}" type="pres">
      <dgm:prSet presAssocID="{1C6D6C4E-3913-4BE7-9D68-8F69CE9E2EBB}" presName="pictRect" presStyleLbl="revTx" presStyleIdx="4" presStyleCnt="6">
        <dgm:presLayoutVars>
          <dgm:chMax val="0"/>
          <dgm:bulletEnabled/>
        </dgm:presLayoutVars>
      </dgm:prSet>
      <dgm:spPr/>
    </dgm:pt>
    <dgm:pt modelId="{1FB3D763-961D-42BF-A4A7-5025A3A1280C}" type="pres">
      <dgm:prSet presAssocID="{1C6D6C4E-3913-4BE7-9D68-8F69CE9E2EBB}" presName="textRect" presStyleLbl="revTx" presStyleIdx="5" presStyleCnt="6">
        <dgm:presLayoutVars>
          <dgm:bulletEnabled/>
        </dgm:presLayoutVars>
      </dgm:prSet>
      <dgm:spPr/>
    </dgm:pt>
  </dgm:ptLst>
  <dgm:cxnLst>
    <dgm:cxn modelId="{3C0F5606-CC92-4B18-8A73-D2ABF176917B}" type="presOf" srcId="{EBC69B32-166C-4A0E-BB52-1A92827B7E22}" destId="{CF5383AF-93BD-4172-9AFA-05D3F972A78C}" srcOrd="0" destOrd="0" presId="urn:microsoft.com/office/officeart/2024/3/layout/hArchList1"/>
    <dgm:cxn modelId="{BB492A1B-BCE7-4D9B-B394-F49FA5C9EB10}" srcId="{1F8D34AE-2D38-4625-9286-631AEC83D7EC}" destId="{1C6D6C4E-3913-4BE7-9D68-8F69CE9E2EBB}" srcOrd="2" destOrd="0" parTransId="{4C91C3B5-3F9A-40F1-9FBF-349B2C4A59A1}" sibTransId="{49F76E65-D61B-45D2-A909-4B90ACEA440A}"/>
    <dgm:cxn modelId="{43CCE21E-0FE9-41A6-A896-9D1470760F60}" type="presOf" srcId="{B5297102-D6CA-46B2-80E2-F003D0403375}" destId="{78C655CC-C0EE-42CA-9464-048DAB7A2C85}" srcOrd="0" destOrd="0" presId="urn:microsoft.com/office/officeart/2024/3/layout/hArchList1"/>
    <dgm:cxn modelId="{F76B2C2E-8B48-4F2C-9A57-7BC8F7D7B80C}" srcId="{1F8D34AE-2D38-4625-9286-631AEC83D7EC}" destId="{EBC69B32-166C-4A0E-BB52-1A92827B7E22}" srcOrd="1" destOrd="0" parTransId="{9405E691-93D5-4471-A8DD-2F22025D908F}" sibTransId="{90E2D921-90DF-40E9-B02B-F131BE288B31}"/>
    <dgm:cxn modelId="{68F4274B-D607-4BDE-9371-739B8955941D}" type="presOf" srcId="{454FBC68-A7C1-4ED0-A6E2-D12B35A078CE}" destId="{85BFD0DD-56A0-4846-A302-01CD3643539F}" srcOrd="0" destOrd="0" presId="urn:microsoft.com/office/officeart/2024/3/layout/hArchList1"/>
    <dgm:cxn modelId="{1BEA2F6B-E936-4955-B8AC-CC6AFC520F6C}" type="presOf" srcId="{90E2D921-90DF-40E9-B02B-F131BE288B31}" destId="{065B725F-888E-49E3-AD1B-B5DAC8BDCF01}" srcOrd="0" destOrd="0" presId="urn:microsoft.com/office/officeart/2024/3/layout/hArchList1"/>
    <dgm:cxn modelId="{F3C58B6D-02B2-4B0A-B21C-3B13348B23F2}" srcId="{454FBC68-A7C1-4ED0-A6E2-D12B35A078CE}" destId="{B5297102-D6CA-46B2-80E2-F003D0403375}" srcOrd="0" destOrd="0" parTransId="{AF54A981-BC72-4690-BC60-3943168B6D7F}" sibTransId="{6F7B89FE-33C2-4CBC-A1A2-E76AA6ACAAAC}"/>
    <dgm:cxn modelId="{F0D6296F-77F4-41F1-AFFE-AEBF77C4F6CF}" srcId="{EBC69B32-166C-4A0E-BB52-1A92827B7E22}" destId="{C805C9C9-FAC4-4167-A570-D7B603B2528F}" srcOrd="0" destOrd="0" parTransId="{0B972A85-0826-4FBE-A425-9061C6357788}" sibTransId="{5E5079CE-C31F-4B2B-AD1E-3421BDFC5A49}"/>
    <dgm:cxn modelId="{30DEF6AA-4EA2-4827-AB55-5CFC11F4048E}" type="presOf" srcId="{1C6D6C4E-3913-4BE7-9D68-8F69CE9E2EBB}" destId="{AA8F06D0-A1F2-4B07-ACEC-B7697BB38923}" srcOrd="0" destOrd="0" presId="urn:microsoft.com/office/officeart/2024/3/layout/hArchList1"/>
    <dgm:cxn modelId="{4C21C0C2-70BD-4867-874D-5973E46EF54C}" type="presOf" srcId="{C805C9C9-FAC4-4167-A570-D7B603B2528F}" destId="{9E3EABEC-427A-4187-99AC-0D13985B3B04}" srcOrd="0" destOrd="0" presId="urn:microsoft.com/office/officeart/2024/3/layout/hArchList1"/>
    <dgm:cxn modelId="{79CDA1C9-25E7-43FA-B0D0-B1CC0F8D7A17}" srcId="{1F8D34AE-2D38-4625-9286-631AEC83D7EC}" destId="{454FBC68-A7C1-4ED0-A6E2-D12B35A078CE}" srcOrd="0" destOrd="0" parTransId="{1EB9C1AD-16D4-441D-826D-0F46D5C86EA6}" sibTransId="{B367E115-335F-47FA-AFF4-69004E4801C3}"/>
    <dgm:cxn modelId="{13F313DA-6732-414C-ABA2-39A8C13E3558}" type="presOf" srcId="{1F8D34AE-2D38-4625-9286-631AEC83D7EC}" destId="{4EF658E8-C500-48E8-B056-EDB068B7ED37}" srcOrd="0" destOrd="0" presId="urn:microsoft.com/office/officeart/2024/3/layout/hArchList1"/>
    <dgm:cxn modelId="{62E82CE7-DEA2-485A-97DA-D16859B6B432}" type="presOf" srcId="{CA18CD18-FA80-4826-90C9-D3A4900F0A60}" destId="{1FB3D763-961D-42BF-A4A7-5025A3A1280C}" srcOrd="0" destOrd="0" presId="urn:microsoft.com/office/officeart/2024/3/layout/hArchList1"/>
    <dgm:cxn modelId="{4B9A46EF-D05A-4F9F-B06E-23C48FC8543F}" srcId="{1C6D6C4E-3913-4BE7-9D68-8F69CE9E2EBB}" destId="{CA18CD18-FA80-4826-90C9-D3A4900F0A60}" srcOrd="0" destOrd="0" parTransId="{4B5D7935-63A9-4629-A903-D79D546E6228}" sibTransId="{ED6D794D-52F4-4A92-B4EA-9466DE261466}"/>
    <dgm:cxn modelId="{6B6A75FB-55B8-4ADB-9086-747929DA6E49}" type="presOf" srcId="{B367E115-335F-47FA-AFF4-69004E4801C3}" destId="{B0C4781A-B8C2-4B70-8A6D-EF2F10DFE4A3}" srcOrd="0" destOrd="0" presId="urn:microsoft.com/office/officeart/2024/3/layout/hArchList1"/>
    <dgm:cxn modelId="{C3D3C542-5617-4080-B55B-00D3BD7A95E4}" type="presParOf" srcId="{4EF658E8-C500-48E8-B056-EDB068B7ED37}" destId="{B1F9FF3D-FBFB-42DD-ABDB-E083333BF4B1}" srcOrd="0" destOrd="0" presId="urn:microsoft.com/office/officeart/2024/3/layout/hArchList1"/>
    <dgm:cxn modelId="{5D0E529F-6F30-4DF3-BCDD-30F4955B3A3B}" type="presParOf" srcId="{B1F9FF3D-FBFB-42DD-ABDB-E083333BF4B1}" destId="{85BFD0DD-56A0-4846-A302-01CD3643539F}" srcOrd="0" destOrd="0" presId="urn:microsoft.com/office/officeart/2024/3/layout/hArchList1"/>
    <dgm:cxn modelId="{BE9A1CFA-9B5F-4FF4-B5CA-A3B072FE74C1}" type="presParOf" srcId="{B1F9FF3D-FBFB-42DD-ABDB-E083333BF4B1}" destId="{78C655CC-C0EE-42CA-9464-048DAB7A2C85}" srcOrd="1" destOrd="0" presId="urn:microsoft.com/office/officeart/2024/3/layout/hArchList1"/>
    <dgm:cxn modelId="{04800B9E-3EC8-4C64-83B9-5E913F40B88C}" type="presParOf" srcId="{4EF658E8-C500-48E8-B056-EDB068B7ED37}" destId="{B0C4781A-B8C2-4B70-8A6D-EF2F10DFE4A3}" srcOrd="1" destOrd="0" presId="urn:microsoft.com/office/officeart/2024/3/layout/hArchList1"/>
    <dgm:cxn modelId="{AC0B5579-5861-4640-946C-FD2C321C50DF}" type="presParOf" srcId="{4EF658E8-C500-48E8-B056-EDB068B7ED37}" destId="{002917C8-E267-45FC-B3B7-1E56A8D5317F}" srcOrd="2" destOrd="0" presId="urn:microsoft.com/office/officeart/2024/3/layout/hArchList1"/>
    <dgm:cxn modelId="{8BEC698A-7AD6-40B3-A091-919078F13DA2}" type="presParOf" srcId="{002917C8-E267-45FC-B3B7-1E56A8D5317F}" destId="{CF5383AF-93BD-4172-9AFA-05D3F972A78C}" srcOrd="0" destOrd="0" presId="urn:microsoft.com/office/officeart/2024/3/layout/hArchList1"/>
    <dgm:cxn modelId="{59F8D1D6-5D5E-48EF-AC46-8AB7EE615D59}" type="presParOf" srcId="{002917C8-E267-45FC-B3B7-1E56A8D5317F}" destId="{9E3EABEC-427A-4187-99AC-0D13985B3B04}" srcOrd="1" destOrd="0" presId="urn:microsoft.com/office/officeart/2024/3/layout/hArchList1"/>
    <dgm:cxn modelId="{6266CE64-603D-4A69-81E7-7966093B98EF}" type="presParOf" srcId="{4EF658E8-C500-48E8-B056-EDB068B7ED37}" destId="{065B725F-888E-49E3-AD1B-B5DAC8BDCF01}" srcOrd="3" destOrd="0" presId="urn:microsoft.com/office/officeart/2024/3/layout/hArchList1"/>
    <dgm:cxn modelId="{262DB348-7A38-42F6-AA3C-146FB57E7C93}" type="presParOf" srcId="{4EF658E8-C500-48E8-B056-EDB068B7ED37}" destId="{328C1A88-DB3A-425B-B624-BCC73EF7F419}" srcOrd="4" destOrd="0" presId="urn:microsoft.com/office/officeart/2024/3/layout/hArchList1"/>
    <dgm:cxn modelId="{F2598300-F862-4B51-98FB-648A10599074}" type="presParOf" srcId="{328C1A88-DB3A-425B-B624-BCC73EF7F419}" destId="{AA8F06D0-A1F2-4B07-ACEC-B7697BB38923}" srcOrd="0" destOrd="0" presId="urn:microsoft.com/office/officeart/2024/3/layout/hArchList1"/>
    <dgm:cxn modelId="{05D3B4D7-B980-4B78-9EC2-0101DFBB0E60}" type="presParOf" srcId="{328C1A88-DB3A-425B-B624-BCC73EF7F419}" destId="{1FB3D763-961D-42BF-A4A7-5025A3A1280C}"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B89E9B-11A8-4EAC-B023-AC2CEE43FF1F}">
      <dsp:nvSpPr>
        <dsp:cNvPr id="0" name=""/>
        <dsp:cNvSpPr/>
      </dsp:nvSpPr>
      <dsp:spPr>
        <a:xfrm>
          <a:off x="806684" y="0"/>
          <a:ext cx="9142426" cy="541866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A3C38C-D8B1-459D-B15F-FDAB18545B01}">
      <dsp:nvSpPr>
        <dsp:cNvPr id="0" name=""/>
        <dsp:cNvSpPr/>
      </dsp:nvSpPr>
      <dsp:spPr>
        <a:xfrm>
          <a:off x="0" y="1395729"/>
          <a:ext cx="1731142" cy="13456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Read fuel records</a:t>
          </a:r>
          <a:endParaRPr lang="en-GB" sz="2400" kern="1200" dirty="0"/>
        </a:p>
      </dsp:txBody>
      <dsp:txXfrm>
        <a:off x="65690" y="1461419"/>
        <a:ext cx="1599762" cy="1214291"/>
      </dsp:txXfrm>
    </dsp:sp>
    <dsp:sp modelId="{3D1610C2-6527-4676-9D77-DDD921637B80}">
      <dsp:nvSpPr>
        <dsp:cNvPr id="0" name=""/>
        <dsp:cNvSpPr/>
      </dsp:nvSpPr>
      <dsp:spPr>
        <a:xfrm>
          <a:off x="3454849" y="2242352"/>
          <a:ext cx="2404443" cy="1755908"/>
        </a:xfrm>
        <a:prstGeom prst="roundRect">
          <a:avLst/>
        </a:prstGeom>
        <a:solidFill>
          <a:srgbClr val="734B67">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066800">
            <a:lnSpc>
              <a:spcPct val="90000"/>
            </a:lnSpc>
            <a:spcBef>
              <a:spcPct val="0"/>
            </a:spcBef>
            <a:spcAft>
              <a:spcPct val="35000"/>
            </a:spcAft>
            <a:buNone/>
          </a:pPr>
          <a:r>
            <a:rPr lang="fr-FR" sz="2400" kern="1200" dirty="0" err="1"/>
            <a:t>Extend</a:t>
          </a:r>
          <a:r>
            <a:rPr lang="fr-FR" sz="2400" kern="1200" dirty="0"/>
            <a:t> </a:t>
          </a:r>
          <a:r>
            <a:rPr lang="fr-FR" sz="2400" kern="1200" dirty="0" err="1"/>
            <a:t>each</a:t>
          </a:r>
          <a:r>
            <a:rPr lang="fr-FR" sz="2400" kern="1200" dirty="0"/>
            <a:t> fuel record </a:t>
          </a:r>
          <a:r>
            <a:rPr lang="fr-FR" sz="2400" kern="1200" dirty="0" err="1"/>
            <a:t>with</a:t>
          </a:r>
          <a:r>
            <a:rPr lang="fr-FR" sz="2400" kern="1200" dirty="0"/>
            <a:t> flight data</a:t>
          </a:r>
          <a:endParaRPr lang="en-GB" sz="2400" kern="1200" dirty="0"/>
        </a:p>
      </dsp:txBody>
      <dsp:txXfrm>
        <a:off x="3540565" y="2328068"/>
        <a:ext cx="2233011" cy="1584476"/>
      </dsp:txXfrm>
    </dsp:sp>
    <dsp:sp modelId="{16C2B7EF-E3E0-4782-A787-0CD31910CF42}">
      <dsp:nvSpPr>
        <dsp:cNvPr id="0" name=""/>
        <dsp:cNvSpPr/>
      </dsp:nvSpPr>
      <dsp:spPr>
        <a:xfrm>
          <a:off x="5864323" y="1851233"/>
          <a:ext cx="1355064" cy="16101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err="1"/>
            <a:t>Scale</a:t>
          </a:r>
          <a:r>
            <a:rPr lang="fr-FR" sz="1900" kern="1200" dirty="0"/>
            <a:t> and encode </a:t>
          </a:r>
          <a:r>
            <a:rPr lang="fr-FR" sz="1900" kern="1200" dirty="0" err="1"/>
            <a:t>aircraft</a:t>
          </a:r>
          <a:r>
            <a:rPr lang="fr-FR" sz="1900" kern="1200" dirty="0"/>
            <a:t> </a:t>
          </a:r>
          <a:r>
            <a:rPr lang="fr-FR" sz="1900" kern="1200" dirty="0" err="1"/>
            <a:t>icao</a:t>
          </a:r>
          <a:r>
            <a:rPr lang="fr-FR" sz="1900" kern="1200" dirty="0"/>
            <a:t> code</a:t>
          </a:r>
          <a:endParaRPr lang="en-GB" sz="1900" kern="1200" dirty="0"/>
        </a:p>
      </dsp:txBody>
      <dsp:txXfrm>
        <a:off x="5930472" y="1917382"/>
        <a:ext cx="1222766" cy="1477869"/>
      </dsp:txXfrm>
    </dsp:sp>
    <dsp:sp modelId="{69D641B2-4062-4D68-91B7-2C4142688229}">
      <dsp:nvSpPr>
        <dsp:cNvPr id="0" name=""/>
        <dsp:cNvSpPr/>
      </dsp:nvSpPr>
      <dsp:spPr>
        <a:xfrm>
          <a:off x="44886" y="2709344"/>
          <a:ext cx="1731142" cy="13456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Read Flight </a:t>
          </a:r>
          <a:r>
            <a:rPr lang="fr-FR" sz="2400" kern="1200" dirty="0" err="1"/>
            <a:t>list</a:t>
          </a:r>
          <a:r>
            <a:rPr lang="fr-FR" sz="2400" kern="1200" dirty="0"/>
            <a:t> records</a:t>
          </a:r>
          <a:endParaRPr lang="en-GB" sz="2400" kern="1200" dirty="0"/>
        </a:p>
      </dsp:txBody>
      <dsp:txXfrm>
        <a:off x="110576" y="2775034"/>
        <a:ext cx="1599762" cy="1214291"/>
      </dsp:txXfrm>
    </dsp:sp>
    <dsp:sp modelId="{C1921E07-28BD-4D3D-A763-E8266277BDF3}">
      <dsp:nvSpPr>
        <dsp:cNvPr id="0" name=""/>
        <dsp:cNvSpPr/>
      </dsp:nvSpPr>
      <dsp:spPr>
        <a:xfrm>
          <a:off x="1628343" y="1820726"/>
          <a:ext cx="1731142" cy="13456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dirty="0" err="1"/>
            <a:t>Extend</a:t>
          </a:r>
          <a:r>
            <a:rPr lang="fr-FR" sz="2200" kern="1200" dirty="0"/>
            <a:t> fuel </a:t>
          </a:r>
          <a:r>
            <a:rPr lang="fr-FR" sz="2400" kern="1200" dirty="0"/>
            <a:t>records</a:t>
          </a:r>
          <a:r>
            <a:rPr lang="fr-FR" sz="2200" kern="1200" dirty="0"/>
            <a:t> </a:t>
          </a:r>
          <a:r>
            <a:rPr lang="fr-FR" sz="2200" kern="1200" dirty="0" err="1"/>
            <a:t>with</a:t>
          </a:r>
          <a:r>
            <a:rPr lang="fr-FR" sz="2200" kern="1200" dirty="0"/>
            <a:t> flight </a:t>
          </a:r>
          <a:r>
            <a:rPr lang="fr-FR" sz="2200" kern="1200" dirty="0" err="1"/>
            <a:t>list</a:t>
          </a:r>
          <a:r>
            <a:rPr lang="fr-FR" sz="2200" kern="1200" dirty="0"/>
            <a:t> data</a:t>
          </a:r>
          <a:endParaRPr lang="en-GB" sz="2200" kern="1200" dirty="0"/>
        </a:p>
      </dsp:txBody>
      <dsp:txXfrm>
        <a:off x="1694033" y="1886416"/>
        <a:ext cx="1599762" cy="1214291"/>
      </dsp:txXfrm>
    </dsp:sp>
    <dsp:sp modelId="{FA489B95-154B-4937-A12B-0D611B20E4B6}">
      <dsp:nvSpPr>
        <dsp:cNvPr id="0" name=""/>
        <dsp:cNvSpPr/>
      </dsp:nvSpPr>
      <dsp:spPr>
        <a:xfrm>
          <a:off x="7677951" y="1904249"/>
          <a:ext cx="1355064" cy="16101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Y </a:t>
          </a:r>
          <a:r>
            <a:rPr lang="fr-FR" sz="1900" kern="1200" dirty="0" err="1"/>
            <a:t>column</a:t>
          </a:r>
          <a:r>
            <a:rPr lang="fr-FR" sz="1900" kern="1200" dirty="0"/>
            <a:t> </a:t>
          </a:r>
          <a:r>
            <a:rPr lang="fr-FR" sz="1900" kern="1200" dirty="0" err="1"/>
            <a:t>is</a:t>
          </a:r>
          <a:r>
            <a:rPr lang="fr-FR" sz="1900" kern="1200" dirty="0"/>
            <a:t> fuel flow kg </a:t>
          </a:r>
          <a:r>
            <a:rPr lang="fr-FR" sz="1900" kern="1200"/>
            <a:t>per seconds</a:t>
          </a:r>
          <a:endParaRPr lang="en-GB" sz="1900" kern="1200" dirty="0"/>
        </a:p>
      </dsp:txBody>
      <dsp:txXfrm>
        <a:off x="7744100" y="1970398"/>
        <a:ext cx="1222766" cy="14778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BFD0DD-56A0-4846-A302-01CD3643539F}">
      <dsp:nvSpPr>
        <dsp:cNvPr id="0" name=""/>
        <dsp:cNvSpPr/>
      </dsp:nvSpPr>
      <dsp:spPr>
        <a:xfrm>
          <a:off x="0" y="0"/>
          <a:ext cx="3370557" cy="320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Versatile Platform</a:t>
          </a:r>
        </a:p>
      </dsp:txBody>
      <dsp:txXfrm>
        <a:off x="0" y="0"/>
        <a:ext cx="3370557" cy="320007"/>
      </dsp:txXfrm>
    </dsp:sp>
    <dsp:sp modelId="{78C655CC-C0EE-42CA-9464-048DAB7A2C85}">
      <dsp:nvSpPr>
        <dsp:cNvPr id="0" name=""/>
        <dsp:cNvSpPr/>
      </dsp:nvSpPr>
      <dsp:spPr>
        <a:xfrm>
          <a:off x="0" y="320007"/>
          <a:ext cx="3370557" cy="2136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TensorFlow offers a flexible platform supporting various regression analysis techniques for diverse applications.</a:t>
          </a:r>
        </a:p>
      </dsp:txBody>
      <dsp:txXfrm>
        <a:off x="0" y="320007"/>
        <a:ext cx="3370557" cy="2136175"/>
      </dsp:txXfrm>
    </dsp:sp>
    <dsp:sp modelId="{CF5383AF-93BD-4172-9AFA-05D3F972A78C}">
      <dsp:nvSpPr>
        <dsp:cNvPr id="0" name=""/>
        <dsp:cNvSpPr/>
      </dsp:nvSpPr>
      <dsp:spPr>
        <a:xfrm>
          <a:off x="3707612" y="0"/>
          <a:ext cx="3370557" cy="320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Comprehensive Tools</a:t>
          </a:r>
        </a:p>
      </dsp:txBody>
      <dsp:txXfrm>
        <a:off x="3707612" y="0"/>
        <a:ext cx="3370557" cy="320007"/>
      </dsp:txXfrm>
    </dsp:sp>
    <dsp:sp modelId="{9E3EABEC-427A-4187-99AC-0D13985B3B04}">
      <dsp:nvSpPr>
        <dsp:cNvPr id="0" name=""/>
        <dsp:cNvSpPr/>
      </dsp:nvSpPr>
      <dsp:spPr>
        <a:xfrm>
          <a:off x="3707612" y="320007"/>
          <a:ext cx="3370557" cy="2136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platform provides comprehensive tools enabling both foundational and advanced regression modelling.</a:t>
          </a:r>
        </a:p>
      </dsp:txBody>
      <dsp:txXfrm>
        <a:off x="3707612" y="320007"/>
        <a:ext cx="3370557" cy="2136175"/>
      </dsp:txXfrm>
    </dsp:sp>
    <dsp:sp modelId="{AA8F06D0-A1F2-4B07-ACEC-B7697BB38923}">
      <dsp:nvSpPr>
        <dsp:cNvPr id="0" name=""/>
        <dsp:cNvSpPr/>
      </dsp:nvSpPr>
      <dsp:spPr>
        <a:xfrm>
          <a:off x="7415225" y="0"/>
          <a:ext cx="3370557" cy="320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Powerful Predictive Solutions</a:t>
          </a:r>
        </a:p>
      </dsp:txBody>
      <dsp:txXfrm>
        <a:off x="7415225" y="0"/>
        <a:ext cx="3370557" cy="320007"/>
      </dsp:txXfrm>
    </dsp:sp>
    <dsp:sp modelId="{1FB3D763-961D-42BF-A4A7-5025A3A1280C}">
      <dsp:nvSpPr>
        <dsp:cNvPr id="0" name=""/>
        <dsp:cNvSpPr/>
      </dsp:nvSpPr>
      <dsp:spPr>
        <a:xfrm>
          <a:off x="7415225" y="320007"/>
          <a:ext cx="3370557" cy="2136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Applying TensorFlow’s techniques unlocks powerful predictive solutions across multiple domains and industries.</a:t>
          </a:r>
        </a:p>
      </dsp:txBody>
      <dsp:txXfrm>
        <a:off x="7415225" y="320007"/>
        <a:ext cx="3370557" cy="213617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7C1B1A-E627-4193-81A8-99D81A3A4A1E}" type="datetimeFigureOut">
              <a:rPr lang="en-GB" smtClean="0"/>
              <a:t>18/10/2025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B7BEF-4D51-4778-85AA-D3F080F932CD}" type="slidenum">
              <a:rPr lang="en-GB" smtClean="0"/>
              <a:t>‹#›</a:t>
            </a:fld>
            <a:endParaRPr lang="en-GB"/>
          </a:p>
        </p:txBody>
      </p:sp>
    </p:spTree>
    <p:extLst>
      <p:ext uri="{BB962C8B-B14F-4D97-AF65-F5344CB8AC3E}">
        <p14:creationId xmlns:p14="http://schemas.microsoft.com/office/powerpoint/2010/main" val="382059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AI-generated content may be incorrect.
---
This presentation explores how TensorFlow can be effectively used to solve regression problems. We will cover foundational regression concepts, TensorFlow’s features, practical implementation of regression models, and advanced methods to enhance model performance.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13</a:t>
            </a:fld>
            <a:endParaRPr lang="en-GB"/>
          </a:p>
        </p:txBody>
      </p:sp>
    </p:spTree>
    <p:extLst>
      <p:ext uri="{BB962C8B-B14F-4D97-AF65-F5344CB8AC3E}">
        <p14:creationId xmlns:p14="http://schemas.microsoft.com/office/powerpoint/2010/main" val="1523336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We will begin with an introduction to regression analysis, its types and applications. Next, we will look at TensorFlow’s capabilities and setup. Then, practical steps to implement regression models using TensorFlow. Finally, advanced techniques and best practices for improving regression models.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14</a:t>
            </a:fld>
            <a:endParaRPr lang="en-GB"/>
          </a:p>
        </p:txBody>
      </p:sp>
    </p:spTree>
    <p:extLst>
      <p:ext uri="{BB962C8B-B14F-4D97-AF65-F5344CB8AC3E}">
        <p14:creationId xmlns:p14="http://schemas.microsoft.com/office/powerpoint/2010/main" val="3333964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Regression analysis is a key statistical method for modelling relationships between variables. Understanding its basic concepts, types, and real-world use cases lays the foundation for applying TensorFlow in regression tasks.</a:t>
            </a:r>
          </a:p>
        </p:txBody>
      </p:sp>
      <p:sp>
        <p:nvSpPr>
          <p:cNvPr id="4" name="Slide Number Placeholder 3"/>
          <p:cNvSpPr>
            <a:spLocks noGrp="1"/>
          </p:cNvSpPr>
          <p:nvPr>
            <p:ph type="sldNum" sz="quarter" idx="5"/>
          </p:nvPr>
        </p:nvSpPr>
        <p:spPr/>
        <p:txBody>
          <a:bodyPr/>
          <a:lstStyle/>
          <a:p>
            <a:fld id="{3CECB5DB-3EE0-4B5C-B239-34DF675E0360}" type="slidenum">
              <a:rPr lang="en-GB" smtClean="0"/>
              <a:t>15</a:t>
            </a:fld>
            <a:endParaRPr lang="en-GB"/>
          </a:p>
        </p:txBody>
      </p:sp>
    </p:spTree>
    <p:extLst>
      <p:ext uri="{BB962C8B-B14F-4D97-AF65-F5344CB8AC3E}">
        <p14:creationId xmlns:p14="http://schemas.microsoft.com/office/powerpoint/2010/main" val="1625162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Regression involves estimating the relationship between dependent and independent variables. We aim to predict continuous outcomes and understand how variables influence each other.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16</a:t>
            </a:fld>
            <a:endParaRPr lang="en-GB"/>
          </a:p>
        </p:txBody>
      </p:sp>
    </p:spTree>
    <p:extLst>
      <p:ext uri="{BB962C8B-B14F-4D97-AF65-F5344CB8AC3E}">
        <p14:creationId xmlns:p14="http://schemas.microsoft.com/office/powerpoint/2010/main" val="1242967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Common regression types include linear, polynomial, and logistic regression. Each type addresses different data patterns and modelling needs, from simple linear relationships to complex non-linear dependencies.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17</a:t>
            </a:fld>
            <a:endParaRPr lang="en-GB"/>
          </a:p>
        </p:txBody>
      </p:sp>
    </p:spTree>
    <p:extLst>
      <p:ext uri="{BB962C8B-B14F-4D97-AF65-F5344CB8AC3E}">
        <p14:creationId xmlns:p14="http://schemas.microsoft.com/office/powerpoint/2010/main" val="1734606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TensorFlow is a powerful open-source framework widely used for machine learning. Understanding its key features and setup helps leverage its full potential for regression tasks.</a:t>
            </a:r>
          </a:p>
        </p:txBody>
      </p:sp>
      <p:sp>
        <p:nvSpPr>
          <p:cNvPr id="4" name="Slide Number Placeholder 3"/>
          <p:cNvSpPr>
            <a:spLocks noGrp="1"/>
          </p:cNvSpPr>
          <p:nvPr>
            <p:ph type="sldNum" sz="quarter" idx="5"/>
          </p:nvPr>
        </p:nvSpPr>
        <p:spPr/>
        <p:txBody>
          <a:bodyPr/>
          <a:lstStyle/>
          <a:p>
            <a:fld id="{3CECB5DB-3EE0-4B5C-B239-34DF675E0360}" type="slidenum">
              <a:rPr lang="en-GB" smtClean="0"/>
              <a:t>18</a:t>
            </a:fld>
            <a:endParaRPr lang="en-GB"/>
          </a:p>
        </p:txBody>
      </p:sp>
    </p:spTree>
    <p:extLst>
      <p:ext uri="{BB962C8B-B14F-4D97-AF65-F5344CB8AC3E}">
        <p14:creationId xmlns:p14="http://schemas.microsoft.com/office/powerpoint/2010/main" val="1305963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TensorFlow offers flexible architecture, support for deep learning, efficient computation on CPUs and GPUs, and extensive community support, making it ideal for various machine learning tasks.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19</a:t>
            </a:fld>
            <a:endParaRPr lang="en-GB"/>
          </a:p>
        </p:txBody>
      </p:sp>
    </p:spTree>
    <p:extLst>
      <p:ext uri="{BB962C8B-B14F-4D97-AF65-F5344CB8AC3E}">
        <p14:creationId xmlns:p14="http://schemas.microsoft.com/office/powerpoint/2010/main" val="164973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Setting up TensorFlow involves installing the library, configuring environments, and preparing datasets. Proper setup ensures smooth implementation of regression models.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20</a:t>
            </a:fld>
            <a:endParaRPr lang="en-GB"/>
          </a:p>
        </p:txBody>
      </p:sp>
    </p:spTree>
    <p:extLst>
      <p:ext uri="{BB962C8B-B14F-4D97-AF65-F5344CB8AC3E}">
        <p14:creationId xmlns:p14="http://schemas.microsoft.com/office/powerpoint/2010/main" val="1959377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TensorFlow provides scalable model building, easy integration with data pipelines, and robust tools for training and evaluation, facilitating effective regression modelling.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21</a:t>
            </a:fld>
            <a:endParaRPr lang="en-GB"/>
          </a:p>
        </p:txBody>
      </p:sp>
    </p:spTree>
    <p:extLst>
      <p:ext uri="{BB962C8B-B14F-4D97-AF65-F5344CB8AC3E}">
        <p14:creationId xmlns:p14="http://schemas.microsoft.com/office/powerpoint/2010/main" val="360448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Implementing regression models in TensorFlow involves data preparation, model construction, training, and evaluation. Each step is crucial for building accurate predictive models.</a:t>
            </a:r>
          </a:p>
        </p:txBody>
      </p:sp>
      <p:sp>
        <p:nvSpPr>
          <p:cNvPr id="4" name="Slide Number Placeholder 3"/>
          <p:cNvSpPr>
            <a:spLocks noGrp="1"/>
          </p:cNvSpPr>
          <p:nvPr>
            <p:ph type="sldNum" sz="quarter" idx="5"/>
          </p:nvPr>
        </p:nvSpPr>
        <p:spPr/>
        <p:txBody>
          <a:bodyPr/>
          <a:lstStyle/>
          <a:p>
            <a:fld id="{3CECB5DB-3EE0-4B5C-B239-34DF675E0360}" type="slidenum">
              <a:rPr lang="en-GB" smtClean="0"/>
              <a:t>22</a:t>
            </a:fld>
            <a:endParaRPr lang="en-GB"/>
          </a:p>
        </p:txBody>
      </p:sp>
    </p:spTree>
    <p:extLst>
      <p:ext uri="{BB962C8B-B14F-4D97-AF65-F5344CB8AC3E}">
        <p14:creationId xmlns:p14="http://schemas.microsoft.com/office/powerpoint/2010/main" val="206328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Data preparation includes cleaning, normalising, and splitting data into training and testing sets to ensure the model learns effectively without bias.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23</a:t>
            </a:fld>
            <a:endParaRPr lang="en-GB"/>
          </a:p>
        </p:txBody>
      </p:sp>
    </p:spTree>
    <p:extLst>
      <p:ext uri="{BB962C8B-B14F-4D97-AF65-F5344CB8AC3E}">
        <p14:creationId xmlns:p14="http://schemas.microsoft.com/office/powerpoint/2010/main" val="3246888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A linear regression model in TensorFlow is built using layers to represent input features and output predictions, with weights optimised during training to minimise errors.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24</a:t>
            </a:fld>
            <a:endParaRPr lang="en-GB"/>
          </a:p>
        </p:txBody>
      </p:sp>
    </p:spTree>
    <p:extLst>
      <p:ext uri="{BB962C8B-B14F-4D97-AF65-F5344CB8AC3E}">
        <p14:creationId xmlns:p14="http://schemas.microsoft.com/office/powerpoint/2010/main" val="377175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Training involves feeding data through the model and adjusting parameters. Evaluation metrics like mean squared error assess performance, while interpretation helps understand model insights.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25</a:t>
            </a:fld>
            <a:endParaRPr lang="en-GB"/>
          </a:p>
        </p:txBody>
      </p:sp>
    </p:spTree>
    <p:extLst>
      <p:ext uri="{BB962C8B-B14F-4D97-AF65-F5344CB8AC3E}">
        <p14:creationId xmlns:p14="http://schemas.microsoft.com/office/powerpoint/2010/main" val="567544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Advanced methods such as using neural networks for non-linear regression, preventing overfitting, and effective visualisation enhance regression model accuracy and interpretability.</a:t>
            </a:r>
          </a:p>
        </p:txBody>
      </p:sp>
      <p:sp>
        <p:nvSpPr>
          <p:cNvPr id="4" name="Slide Number Placeholder 3"/>
          <p:cNvSpPr>
            <a:spLocks noGrp="1"/>
          </p:cNvSpPr>
          <p:nvPr>
            <p:ph type="sldNum" sz="quarter" idx="5"/>
          </p:nvPr>
        </p:nvSpPr>
        <p:spPr/>
        <p:txBody>
          <a:bodyPr/>
          <a:lstStyle/>
          <a:p>
            <a:fld id="{3CECB5DB-3EE0-4B5C-B239-34DF675E0360}" type="slidenum">
              <a:rPr lang="en-GB" smtClean="0"/>
              <a:t>26</a:t>
            </a:fld>
            <a:endParaRPr lang="en-GB"/>
          </a:p>
        </p:txBody>
      </p:sp>
    </p:spTree>
    <p:extLst>
      <p:ext uri="{BB962C8B-B14F-4D97-AF65-F5344CB8AC3E}">
        <p14:creationId xmlns:p14="http://schemas.microsoft.com/office/powerpoint/2010/main" val="1155607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Neural networks in TensorFlow can model complex non-linear relationships by stacking layers and using activation functions, expanding regression capabilities beyond linear patterns.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27</a:t>
            </a:fld>
            <a:endParaRPr lang="en-GB"/>
          </a:p>
        </p:txBody>
      </p:sp>
    </p:spTree>
    <p:extLst>
      <p:ext uri="{BB962C8B-B14F-4D97-AF65-F5344CB8AC3E}">
        <p14:creationId xmlns:p14="http://schemas.microsoft.com/office/powerpoint/2010/main" val="3800751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Techniques like regularisation, dropout, and early stopping help prevent overfitting, ensuring the model generalises well to new data and maintains predictive accuracy.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28</a:t>
            </a:fld>
            <a:endParaRPr lang="en-GB"/>
          </a:p>
        </p:txBody>
      </p:sp>
    </p:spTree>
    <p:extLst>
      <p:ext uri="{BB962C8B-B14F-4D97-AF65-F5344CB8AC3E}">
        <p14:creationId xmlns:p14="http://schemas.microsoft.com/office/powerpoint/2010/main" val="1558216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Visual tools like loss curves, regression plots, and residual analysis aid in understanding model behaviour, diagnosing issues, and communicating results effectively.
Image source: Microsoft 365 content library
</a:t>
            </a:r>
          </a:p>
        </p:txBody>
      </p:sp>
      <p:sp>
        <p:nvSpPr>
          <p:cNvPr id="4" name="Slide Number Placeholder 3"/>
          <p:cNvSpPr>
            <a:spLocks noGrp="1"/>
          </p:cNvSpPr>
          <p:nvPr>
            <p:ph type="sldNum" sz="quarter" idx="5"/>
          </p:nvPr>
        </p:nvSpPr>
        <p:spPr/>
        <p:txBody>
          <a:bodyPr/>
          <a:lstStyle/>
          <a:p>
            <a:fld id="{3CECB5DB-3EE0-4B5C-B239-34DF675E0360}" type="slidenum">
              <a:rPr lang="en-GB" smtClean="0"/>
              <a:t>29</a:t>
            </a:fld>
            <a:endParaRPr lang="en-GB"/>
          </a:p>
        </p:txBody>
      </p:sp>
    </p:spTree>
    <p:extLst>
      <p:ext uri="{BB962C8B-B14F-4D97-AF65-F5344CB8AC3E}">
        <p14:creationId xmlns:p14="http://schemas.microsoft.com/office/powerpoint/2010/main" val="41557756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TensorFlow is a versatile platform that empowers effective regression analysis through comprehensive tools and flexible modelling. Applying foundational and advanced techniques unlocks powerful predictive solutions across domains.</a:t>
            </a:r>
          </a:p>
        </p:txBody>
      </p:sp>
      <p:sp>
        <p:nvSpPr>
          <p:cNvPr id="4" name="Slide Number Placeholder 3"/>
          <p:cNvSpPr>
            <a:spLocks noGrp="1"/>
          </p:cNvSpPr>
          <p:nvPr>
            <p:ph type="sldNum" sz="quarter" idx="5"/>
          </p:nvPr>
        </p:nvSpPr>
        <p:spPr/>
        <p:txBody>
          <a:bodyPr/>
          <a:lstStyle/>
          <a:p>
            <a:fld id="{3CECB5DB-3EE0-4B5C-B239-34DF675E0360}" type="slidenum">
              <a:rPr lang="en-GB" smtClean="0"/>
              <a:t>30</a:t>
            </a:fld>
            <a:endParaRPr lang="en-GB"/>
          </a:p>
        </p:txBody>
      </p:sp>
    </p:spTree>
    <p:extLst>
      <p:ext uri="{BB962C8B-B14F-4D97-AF65-F5344CB8AC3E}">
        <p14:creationId xmlns:p14="http://schemas.microsoft.com/office/powerpoint/2010/main" val="1704068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10/18/2025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26253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10/18/2025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71855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10/18/2025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63366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10/18/2025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21489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10/18/2025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61931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10/18/2025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600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10/18/2025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3726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10/18/2025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08322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10/18/2025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81490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10/18/2025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51995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10/18/2025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46641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10/18/2025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77045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306A-FEB5-B8AE-D285-BA43C72E768B}"/>
              </a:ext>
            </a:extLst>
          </p:cNvPr>
          <p:cNvSpPr>
            <a:spLocks noGrp="1"/>
          </p:cNvSpPr>
          <p:nvPr>
            <p:ph type="ctrTitle"/>
          </p:nvPr>
        </p:nvSpPr>
        <p:spPr/>
        <p:txBody>
          <a:bodyPr/>
          <a:lstStyle/>
          <a:p>
            <a:r>
              <a:rPr lang="fr-FR" dirty="0" err="1"/>
              <a:t>Predict</a:t>
            </a:r>
            <a:r>
              <a:rPr lang="fr-FR" dirty="0"/>
              <a:t> the fuel </a:t>
            </a:r>
            <a:r>
              <a:rPr lang="fr-FR" dirty="0" err="1"/>
              <a:t>burnt</a:t>
            </a:r>
            <a:r>
              <a:rPr lang="fr-FR" dirty="0"/>
              <a:t> (kg)</a:t>
            </a:r>
            <a:endParaRPr lang="en-GB" dirty="0"/>
          </a:p>
        </p:txBody>
      </p:sp>
      <p:sp>
        <p:nvSpPr>
          <p:cNvPr id="3" name="Subtitle 2">
            <a:extLst>
              <a:ext uri="{FF2B5EF4-FFF2-40B4-BE49-F238E27FC236}">
                <a16:creationId xmlns:a16="http://schemas.microsoft.com/office/drawing/2014/main" id="{F00CF827-6622-78DC-5FCA-CB14C4A8AB1A}"/>
              </a:ext>
            </a:extLst>
          </p:cNvPr>
          <p:cNvSpPr>
            <a:spLocks noGrp="1"/>
          </p:cNvSpPr>
          <p:nvPr>
            <p:ph type="subTitle" idx="1"/>
          </p:nvPr>
        </p:nvSpPr>
        <p:spPr>
          <a:xfrm>
            <a:off x="704087" y="2981739"/>
            <a:ext cx="7611652" cy="2809461"/>
          </a:xfrm>
        </p:spPr>
        <p:txBody>
          <a:bodyPr>
            <a:normAutofit/>
          </a:bodyPr>
          <a:lstStyle/>
          <a:p>
            <a:r>
              <a:rPr lang="fr-FR" dirty="0"/>
              <a:t>PRC Data Challenge 2025</a:t>
            </a:r>
          </a:p>
          <a:p>
            <a:r>
              <a:rPr lang="fr-FR" dirty="0" err="1"/>
              <a:t>October</a:t>
            </a:r>
            <a:r>
              <a:rPr lang="fr-FR" dirty="0"/>
              <a:t> 2025</a:t>
            </a:r>
          </a:p>
          <a:p>
            <a:r>
              <a:rPr lang="en-GB" b="1" dirty="0"/>
              <a:t>Team details:</a:t>
            </a:r>
          </a:p>
          <a:p>
            <a:r>
              <a:rPr lang="en-GB" dirty="0"/>
              <a:t>Your team name is: </a:t>
            </a:r>
            <a:r>
              <a:rPr lang="en-GB" b="1" dirty="0"/>
              <a:t>understated-zucchini</a:t>
            </a:r>
            <a:endParaRPr lang="en-GB" dirty="0"/>
          </a:p>
          <a:p>
            <a:r>
              <a:rPr lang="en-GB" dirty="0"/>
              <a:t>Your submission bucket is : </a:t>
            </a:r>
            <a:r>
              <a:rPr lang="en-GB" b="1" dirty="0"/>
              <a:t>prc-2025-understated-zucchini</a:t>
            </a:r>
            <a:endParaRPr lang="en-GB" dirty="0"/>
          </a:p>
          <a:p>
            <a:endParaRPr lang="en-GB" dirty="0"/>
          </a:p>
        </p:txBody>
      </p:sp>
    </p:spTree>
    <p:extLst>
      <p:ext uri="{BB962C8B-B14F-4D97-AF65-F5344CB8AC3E}">
        <p14:creationId xmlns:p14="http://schemas.microsoft.com/office/powerpoint/2010/main" val="2640828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68AA7-3E6A-CD4B-0E4A-8DCC12762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68BAE-E799-8285-8495-3C4DA5612D6F}"/>
              </a:ext>
            </a:extLst>
          </p:cNvPr>
          <p:cNvSpPr>
            <a:spLocks noGrp="1"/>
          </p:cNvSpPr>
          <p:nvPr>
            <p:ph type="title"/>
          </p:nvPr>
        </p:nvSpPr>
        <p:spPr/>
        <p:txBody>
          <a:bodyPr/>
          <a:lstStyle/>
          <a:p>
            <a:r>
              <a:rPr lang="fr-FR" dirty="0"/>
              <a:t>Principles</a:t>
            </a:r>
            <a:endParaRPr lang="en-GB" dirty="0"/>
          </a:p>
        </p:txBody>
      </p:sp>
      <p:sp>
        <p:nvSpPr>
          <p:cNvPr id="3" name="Content Placeholder 2">
            <a:extLst>
              <a:ext uri="{FF2B5EF4-FFF2-40B4-BE49-F238E27FC236}">
                <a16:creationId xmlns:a16="http://schemas.microsoft.com/office/drawing/2014/main" id="{00E20CEB-1598-987E-3456-97DA2542A6CF}"/>
              </a:ext>
            </a:extLst>
          </p:cNvPr>
          <p:cNvSpPr>
            <a:spLocks noGrp="1"/>
          </p:cNvSpPr>
          <p:nvPr>
            <p:ph idx="1"/>
          </p:nvPr>
        </p:nvSpPr>
        <p:spPr>
          <a:xfrm>
            <a:off x="532151" y="1971207"/>
            <a:ext cx="10859749" cy="3990681"/>
          </a:xfrm>
        </p:spPr>
        <p:txBody>
          <a:bodyPr>
            <a:normAutofit lnSpcReduction="10000"/>
          </a:bodyPr>
          <a:lstStyle/>
          <a:p>
            <a:r>
              <a:rPr lang="fr-FR" dirty="0"/>
              <a:t>Read Fuel Train records</a:t>
            </a:r>
          </a:p>
          <a:p>
            <a:pPr lvl="1"/>
            <a:r>
              <a:rPr lang="fr-FR" dirty="0" err="1"/>
              <a:t>compute</a:t>
            </a:r>
            <a:r>
              <a:rPr lang="fr-FR" dirty="0"/>
              <a:t> time </a:t>
            </a:r>
            <a:r>
              <a:rPr lang="fr-FR" dirty="0" err="1"/>
              <a:t>difference</a:t>
            </a:r>
            <a:r>
              <a:rPr lang="fr-FR" dirty="0"/>
              <a:t> seconds = fuel record end – fuel record start</a:t>
            </a:r>
          </a:p>
          <a:p>
            <a:pPr lvl="1"/>
            <a:r>
              <a:rPr lang="fr-FR" dirty="0" err="1"/>
              <a:t>Compute</a:t>
            </a:r>
            <a:r>
              <a:rPr lang="fr-FR" dirty="0"/>
              <a:t> fuel flow kg per seconds = fuel kg / ( fuel record end – fuel record start )</a:t>
            </a:r>
          </a:p>
          <a:p>
            <a:r>
              <a:rPr lang="fr-FR" dirty="0"/>
              <a:t>Link to Flight List </a:t>
            </a:r>
            <a:r>
              <a:rPr lang="fr-FR" dirty="0" err="1"/>
              <a:t>using</a:t>
            </a:r>
            <a:r>
              <a:rPr lang="fr-FR" dirty="0"/>
              <a:t> the flight id</a:t>
            </a:r>
          </a:p>
          <a:p>
            <a:pPr lvl="1"/>
            <a:r>
              <a:rPr lang="fr-FR" dirty="0" err="1"/>
              <a:t>Compute</a:t>
            </a:r>
            <a:r>
              <a:rPr lang="fr-FR" dirty="0"/>
              <a:t> fuel </a:t>
            </a:r>
            <a:r>
              <a:rPr lang="fr-FR" dirty="0" err="1"/>
              <a:t>burn</a:t>
            </a:r>
            <a:r>
              <a:rPr lang="fr-FR" dirty="0"/>
              <a:t> relative start = fuel </a:t>
            </a:r>
            <a:r>
              <a:rPr lang="fr-FR" dirty="0" err="1"/>
              <a:t>burnt</a:t>
            </a:r>
            <a:r>
              <a:rPr lang="fr-FR" dirty="0"/>
              <a:t> start – takeoff (</a:t>
            </a:r>
            <a:r>
              <a:rPr lang="fr-FR" dirty="0" err="1"/>
              <a:t>from</a:t>
            </a:r>
            <a:r>
              <a:rPr lang="fr-FR" dirty="0"/>
              <a:t> the </a:t>
            </a:r>
            <a:r>
              <a:rPr lang="fr-FR" dirty="0" err="1"/>
              <a:t>related</a:t>
            </a:r>
            <a:r>
              <a:rPr lang="fr-FR" dirty="0"/>
              <a:t> flight </a:t>
            </a:r>
            <a:r>
              <a:rPr lang="fr-FR" dirty="0" err="1"/>
              <a:t>list</a:t>
            </a:r>
            <a:r>
              <a:rPr lang="fr-FR" dirty="0"/>
              <a:t>)</a:t>
            </a:r>
          </a:p>
          <a:p>
            <a:pPr lvl="1"/>
            <a:r>
              <a:rPr lang="fr-FR" dirty="0" err="1"/>
              <a:t>Compute</a:t>
            </a:r>
            <a:r>
              <a:rPr lang="fr-FR" dirty="0"/>
              <a:t> fuel </a:t>
            </a:r>
            <a:r>
              <a:rPr lang="fr-FR" dirty="0" err="1"/>
              <a:t>burn</a:t>
            </a:r>
            <a:r>
              <a:rPr lang="fr-FR" dirty="0"/>
              <a:t> relative end = fuel </a:t>
            </a:r>
            <a:r>
              <a:rPr lang="fr-FR" dirty="0" err="1"/>
              <a:t>burnt</a:t>
            </a:r>
            <a:r>
              <a:rPr lang="fr-FR" dirty="0"/>
              <a:t> end – takeoff (</a:t>
            </a:r>
            <a:r>
              <a:rPr lang="fr-FR" dirty="0" err="1"/>
              <a:t>from</a:t>
            </a:r>
            <a:r>
              <a:rPr lang="fr-FR" dirty="0"/>
              <a:t> the </a:t>
            </a:r>
            <a:r>
              <a:rPr lang="fr-FR" dirty="0" err="1"/>
              <a:t>related</a:t>
            </a:r>
            <a:r>
              <a:rPr lang="fr-FR" dirty="0"/>
              <a:t> flight </a:t>
            </a:r>
            <a:r>
              <a:rPr lang="fr-FR" dirty="0" err="1"/>
              <a:t>list</a:t>
            </a:r>
            <a:r>
              <a:rPr lang="fr-FR" dirty="0"/>
              <a:t>)</a:t>
            </a:r>
          </a:p>
          <a:p>
            <a:pPr lvl="1"/>
            <a:endParaRPr lang="fr-FR" dirty="0"/>
          </a:p>
          <a:p>
            <a:r>
              <a:rPr lang="fr-FR" dirty="0" err="1"/>
              <a:t>Extend</a:t>
            </a:r>
            <a:r>
              <a:rPr lang="fr-FR" dirty="0"/>
              <a:t> fuel records </a:t>
            </a:r>
            <a:r>
              <a:rPr lang="fr-FR" dirty="0" err="1"/>
              <a:t>with</a:t>
            </a:r>
            <a:r>
              <a:rPr lang="fr-FR" dirty="0"/>
              <a:t> </a:t>
            </a:r>
            <a:r>
              <a:rPr lang="fr-FR" dirty="0" err="1"/>
              <a:t>attributes</a:t>
            </a:r>
            <a:r>
              <a:rPr lang="fr-FR" dirty="0"/>
              <a:t> </a:t>
            </a:r>
            <a:r>
              <a:rPr lang="fr-FR" dirty="0" err="1"/>
              <a:t>coming</a:t>
            </a:r>
            <a:r>
              <a:rPr lang="fr-FR" dirty="0"/>
              <a:t> </a:t>
            </a:r>
            <a:r>
              <a:rPr lang="fr-FR" dirty="0" err="1"/>
              <a:t>from</a:t>
            </a:r>
            <a:r>
              <a:rPr lang="fr-FR" dirty="0"/>
              <a:t> the flight </a:t>
            </a:r>
            <a:r>
              <a:rPr lang="fr-FR" dirty="0" err="1"/>
              <a:t>list</a:t>
            </a:r>
            <a:endParaRPr lang="fr-FR" dirty="0"/>
          </a:p>
          <a:p>
            <a:pPr lvl="1"/>
            <a:r>
              <a:rPr lang="fr-FR" dirty="0" err="1"/>
              <a:t>Add</a:t>
            </a:r>
            <a:r>
              <a:rPr lang="fr-FR" dirty="0"/>
              <a:t> </a:t>
            </a:r>
            <a:r>
              <a:rPr lang="fr-FR" dirty="0" err="1"/>
              <a:t>origin</a:t>
            </a:r>
            <a:r>
              <a:rPr lang="fr-FR" dirty="0"/>
              <a:t> longitude, </a:t>
            </a:r>
            <a:r>
              <a:rPr lang="fr-FR" dirty="0" err="1"/>
              <a:t>origin</a:t>
            </a:r>
            <a:r>
              <a:rPr lang="fr-FR" dirty="0"/>
              <a:t> latitude, </a:t>
            </a:r>
            <a:r>
              <a:rPr lang="fr-FR" dirty="0" err="1"/>
              <a:t>origin_elevation</a:t>
            </a:r>
            <a:endParaRPr lang="fr-FR" dirty="0"/>
          </a:p>
          <a:p>
            <a:pPr lvl="1"/>
            <a:r>
              <a:rPr lang="fr-FR" dirty="0" err="1"/>
              <a:t>Add</a:t>
            </a:r>
            <a:r>
              <a:rPr lang="fr-FR" dirty="0"/>
              <a:t> destination longitude, destination latitude, destination </a:t>
            </a:r>
            <a:r>
              <a:rPr lang="fr-FR" dirty="0" err="1"/>
              <a:t>elevation</a:t>
            </a:r>
            <a:endParaRPr lang="fr-FR" dirty="0"/>
          </a:p>
          <a:p>
            <a:pPr lvl="1"/>
            <a:r>
              <a:rPr lang="fr-FR" dirty="0" err="1"/>
              <a:t>Add</a:t>
            </a:r>
            <a:r>
              <a:rPr lang="fr-FR" dirty="0"/>
              <a:t> flight distance </a:t>
            </a:r>
            <a:r>
              <a:rPr lang="fr-FR" dirty="0" err="1"/>
              <a:t>Nautical</a:t>
            </a:r>
            <a:r>
              <a:rPr lang="fr-FR" dirty="0"/>
              <a:t> Miles and flight duration seconds</a:t>
            </a:r>
          </a:p>
        </p:txBody>
      </p:sp>
    </p:spTree>
    <p:extLst>
      <p:ext uri="{BB962C8B-B14F-4D97-AF65-F5344CB8AC3E}">
        <p14:creationId xmlns:p14="http://schemas.microsoft.com/office/powerpoint/2010/main" val="2007016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79F66-FE11-5E05-8B08-632276C84E50}"/>
              </a:ext>
            </a:extLst>
          </p:cNvPr>
          <p:cNvSpPr>
            <a:spLocks noGrp="1"/>
          </p:cNvSpPr>
          <p:nvPr>
            <p:ph type="title"/>
          </p:nvPr>
        </p:nvSpPr>
        <p:spPr/>
        <p:txBody>
          <a:bodyPr/>
          <a:lstStyle/>
          <a:p>
            <a:r>
              <a:rPr lang="en-US" dirty="0"/>
              <a:t>Data Model</a:t>
            </a:r>
          </a:p>
        </p:txBody>
      </p:sp>
      <p:sp>
        <p:nvSpPr>
          <p:cNvPr id="3" name="Rectangle : en biseau 2">
            <a:extLst>
              <a:ext uri="{FF2B5EF4-FFF2-40B4-BE49-F238E27FC236}">
                <a16:creationId xmlns:a16="http://schemas.microsoft.com/office/drawing/2014/main" id="{DA6FD135-1B46-AD77-6326-8455539D4A50}"/>
              </a:ext>
            </a:extLst>
          </p:cNvPr>
          <p:cNvSpPr/>
          <p:nvPr/>
        </p:nvSpPr>
        <p:spPr>
          <a:xfrm>
            <a:off x="400455" y="2498725"/>
            <a:ext cx="2505807" cy="1325563"/>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Fuel Data</a:t>
            </a:r>
          </a:p>
        </p:txBody>
      </p:sp>
      <p:sp>
        <p:nvSpPr>
          <p:cNvPr id="4" name="Rectangle : en biseau 3">
            <a:extLst>
              <a:ext uri="{FF2B5EF4-FFF2-40B4-BE49-F238E27FC236}">
                <a16:creationId xmlns:a16="http://schemas.microsoft.com/office/drawing/2014/main" id="{FB9085A8-909C-4E54-5FD5-28580234A7FD}"/>
              </a:ext>
            </a:extLst>
          </p:cNvPr>
          <p:cNvSpPr/>
          <p:nvPr/>
        </p:nvSpPr>
        <p:spPr>
          <a:xfrm>
            <a:off x="5505114" y="1173162"/>
            <a:ext cx="2505807" cy="1325563"/>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Flight Data</a:t>
            </a:r>
          </a:p>
        </p:txBody>
      </p:sp>
      <p:cxnSp>
        <p:nvCxnSpPr>
          <p:cNvPr id="5" name="Connecteur : en angle 5">
            <a:extLst>
              <a:ext uri="{FF2B5EF4-FFF2-40B4-BE49-F238E27FC236}">
                <a16:creationId xmlns:a16="http://schemas.microsoft.com/office/drawing/2014/main" id="{2E00C33A-9364-13CB-685B-5C51EFE2FD57}"/>
              </a:ext>
            </a:extLst>
          </p:cNvPr>
          <p:cNvCxnSpPr>
            <a:stCxn id="4" idx="4"/>
            <a:endCxn id="3" idx="0"/>
          </p:cNvCxnSpPr>
          <p:nvPr/>
        </p:nvCxnSpPr>
        <p:spPr>
          <a:xfrm rot="10800000" flipV="1">
            <a:off x="2906262" y="1835943"/>
            <a:ext cx="2598852" cy="1325563"/>
          </a:xfrm>
          <a:prstGeom prst="bentConnector3">
            <a:avLst/>
          </a:prstGeom>
          <a:ln w="25400">
            <a:headEnd type="none"/>
            <a:tailEnd type="arrow" w="lg" len="lg"/>
          </a:ln>
        </p:spPr>
        <p:style>
          <a:lnRef idx="1">
            <a:schemeClr val="accent1"/>
          </a:lnRef>
          <a:fillRef idx="0">
            <a:schemeClr val="accent1"/>
          </a:fillRef>
          <a:effectRef idx="0">
            <a:schemeClr val="accent1"/>
          </a:effectRef>
          <a:fontRef idx="minor">
            <a:schemeClr val="tx1"/>
          </a:fontRef>
        </p:style>
      </p:cxnSp>
      <p:sp>
        <p:nvSpPr>
          <p:cNvPr id="6" name="ZoneTexte 7">
            <a:extLst>
              <a:ext uri="{FF2B5EF4-FFF2-40B4-BE49-F238E27FC236}">
                <a16:creationId xmlns:a16="http://schemas.microsoft.com/office/drawing/2014/main" id="{F91042F0-BB95-56D3-097F-95674789F70A}"/>
              </a:ext>
            </a:extLst>
          </p:cNvPr>
          <p:cNvSpPr txBox="1"/>
          <p:nvPr/>
        </p:nvSpPr>
        <p:spPr>
          <a:xfrm>
            <a:off x="1628635" y="1574333"/>
            <a:ext cx="2505806" cy="523220"/>
          </a:xfrm>
          <a:prstGeom prst="rect">
            <a:avLst/>
          </a:prstGeom>
          <a:noFill/>
        </p:spPr>
        <p:txBody>
          <a:bodyPr wrap="square" rtlCol="0">
            <a:spAutoFit/>
          </a:bodyPr>
          <a:lstStyle>
            <a:defPPr>
              <a:defRPr lang="fr-FR"/>
            </a:defPPr>
            <a:lvl1pPr algn="ctr">
              <a:defRPr sz="1400"/>
            </a:lvl1pPr>
          </a:lstStyle>
          <a:p>
            <a:r>
              <a:rPr lang="fr-FR" dirty="0"/>
              <a:t>Flight id </a:t>
            </a:r>
          </a:p>
          <a:p>
            <a:r>
              <a:rPr lang="fr-FR" dirty="0" err="1"/>
              <a:t>TimeStamp</a:t>
            </a:r>
            <a:r>
              <a:rPr lang="fr-FR" dirty="0"/>
              <a:t> relative start</a:t>
            </a:r>
          </a:p>
        </p:txBody>
      </p:sp>
      <p:sp>
        <p:nvSpPr>
          <p:cNvPr id="7" name="Rectangle : en biseau 8">
            <a:extLst>
              <a:ext uri="{FF2B5EF4-FFF2-40B4-BE49-F238E27FC236}">
                <a16:creationId xmlns:a16="http://schemas.microsoft.com/office/drawing/2014/main" id="{458E003E-1FFE-A868-3215-B0F59F3DCEA7}"/>
              </a:ext>
            </a:extLst>
          </p:cNvPr>
          <p:cNvSpPr/>
          <p:nvPr/>
        </p:nvSpPr>
        <p:spPr>
          <a:xfrm>
            <a:off x="4146035" y="4359275"/>
            <a:ext cx="2505807" cy="1325563"/>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Flight List Data</a:t>
            </a:r>
          </a:p>
        </p:txBody>
      </p:sp>
      <p:cxnSp>
        <p:nvCxnSpPr>
          <p:cNvPr id="8" name="Connecteur : en angle 11">
            <a:extLst>
              <a:ext uri="{FF2B5EF4-FFF2-40B4-BE49-F238E27FC236}">
                <a16:creationId xmlns:a16="http://schemas.microsoft.com/office/drawing/2014/main" id="{F4E4D2E7-AC43-F8E6-5552-0831651F8B8C}"/>
              </a:ext>
            </a:extLst>
          </p:cNvPr>
          <p:cNvCxnSpPr>
            <a:cxnSpLocks/>
            <a:stCxn id="7" idx="5"/>
            <a:endCxn id="3" idx="0"/>
          </p:cNvCxnSpPr>
          <p:nvPr/>
        </p:nvCxnSpPr>
        <p:spPr>
          <a:xfrm rot="10800000">
            <a:off x="2906262" y="3161507"/>
            <a:ext cx="1405468" cy="1860550"/>
          </a:xfrm>
          <a:prstGeom prst="bentConnector3">
            <a:avLst/>
          </a:prstGeom>
          <a:ln w="25400">
            <a:headEnd type="none"/>
            <a:tailEnd type="arrow" w="lg" len="lg"/>
          </a:ln>
        </p:spPr>
        <p:style>
          <a:lnRef idx="1">
            <a:schemeClr val="accent1"/>
          </a:lnRef>
          <a:fillRef idx="0">
            <a:schemeClr val="accent1"/>
          </a:fillRef>
          <a:effectRef idx="0">
            <a:schemeClr val="accent1"/>
          </a:effectRef>
          <a:fontRef idx="minor">
            <a:schemeClr val="tx1"/>
          </a:fontRef>
        </p:style>
      </p:cxnSp>
      <p:sp>
        <p:nvSpPr>
          <p:cNvPr id="9" name="Rectangle : en biseau 18">
            <a:extLst>
              <a:ext uri="{FF2B5EF4-FFF2-40B4-BE49-F238E27FC236}">
                <a16:creationId xmlns:a16="http://schemas.microsoft.com/office/drawing/2014/main" id="{1CBA7E97-1B58-416A-A667-7DE925C21286}"/>
              </a:ext>
            </a:extLst>
          </p:cNvPr>
          <p:cNvSpPr/>
          <p:nvPr/>
        </p:nvSpPr>
        <p:spPr>
          <a:xfrm>
            <a:off x="8766285" y="2511881"/>
            <a:ext cx="2505807" cy="1325563"/>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Airport Data</a:t>
            </a:r>
          </a:p>
        </p:txBody>
      </p:sp>
      <p:cxnSp>
        <p:nvCxnSpPr>
          <p:cNvPr id="10" name="Connecteur : en angle 19">
            <a:extLst>
              <a:ext uri="{FF2B5EF4-FFF2-40B4-BE49-F238E27FC236}">
                <a16:creationId xmlns:a16="http://schemas.microsoft.com/office/drawing/2014/main" id="{C4B767A9-25D9-5C7F-64EC-C1109EE5B82D}"/>
              </a:ext>
            </a:extLst>
          </p:cNvPr>
          <p:cNvCxnSpPr>
            <a:cxnSpLocks/>
            <a:stCxn id="9" idx="4"/>
            <a:endCxn id="7" idx="1"/>
          </p:cNvCxnSpPr>
          <p:nvPr/>
        </p:nvCxnSpPr>
        <p:spPr>
          <a:xfrm rot="10800000" flipV="1">
            <a:off x="6486147" y="3174663"/>
            <a:ext cx="2280138" cy="1847394"/>
          </a:xfrm>
          <a:prstGeom prst="bentConnector3">
            <a:avLst/>
          </a:prstGeom>
          <a:ln w="25400">
            <a:headEnd type="none"/>
            <a:tailEnd type="arrow" w="lg" len="lg"/>
          </a:ln>
        </p:spPr>
        <p:style>
          <a:lnRef idx="1">
            <a:schemeClr val="accent1"/>
          </a:lnRef>
          <a:fillRef idx="0">
            <a:schemeClr val="accent1"/>
          </a:fillRef>
          <a:effectRef idx="0">
            <a:schemeClr val="accent1"/>
          </a:effectRef>
          <a:fontRef idx="minor">
            <a:schemeClr val="tx1"/>
          </a:fontRef>
        </p:style>
      </p:cxnSp>
      <p:sp>
        <p:nvSpPr>
          <p:cNvPr id="11" name="Rectangle : en biseau 24">
            <a:extLst>
              <a:ext uri="{FF2B5EF4-FFF2-40B4-BE49-F238E27FC236}">
                <a16:creationId xmlns:a16="http://schemas.microsoft.com/office/drawing/2014/main" id="{62BDA395-63BA-68BE-C969-0767A0D6F6FD}"/>
              </a:ext>
            </a:extLst>
          </p:cNvPr>
          <p:cNvSpPr/>
          <p:nvPr/>
        </p:nvSpPr>
        <p:spPr>
          <a:xfrm>
            <a:off x="8766285" y="4346119"/>
            <a:ext cx="2505807" cy="1325563"/>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Aircraft Data</a:t>
            </a:r>
          </a:p>
        </p:txBody>
      </p:sp>
      <p:cxnSp>
        <p:nvCxnSpPr>
          <p:cNvPr id="12" name="Connecteur : en angle 30">
            <a:extLst>
              <a:ext uri="{FF2B5EF4-FFF2-40B4-BE49-F238E27FC236}">
                <a16:creationId xmlns:a16="http://schemas.microsoft.com/office/drawing/2014/main" id="{5B138680-13C9-2493-396D-09923845637E}"/>
              </a:ext>
            </a:extLst>
          </p:cNvPr>
          <p:cNvCxnSpPr>
            <a:cxnSpLocks/>
            <a:stCxn id="11" idx="4"/>
            <a:endCxn id="7" idx="0"/>
          </p:cNvCxnSpPr>
          <p:nvPr/>
        </p:nvCxnSpPr>
        <p:spPr>
          <a:xfrm rot="10800000" flipV="1">
            <a:off x="6651843" y="5008901"/>
            <a:ext cx="2114443" cy="13156"/>
          </a:xfrm>
          <a:prstGeom prst="bentConnector3">
            <a:avLst/>
          </a:prstGeom>
          <a:ln w="25400">
            <a:headEnd type="none"/>
            <a:tailEnd type="arrow" w="lg" len="lg"/>
          </a:ln>
        </p:spPr>
        <p:style>
          <a:lnRef idx="1">
            <a:schemeClr val="accent1"/>
          </a:lnRef>
          <a:fillRef idx="0">
            <a:schemeClr val="accent1"/>
          </a:fillRef>
          <a:effectRef idx="0">
            <a:schemeClr val="accent1"/>
          </a:effectRef>
          <a:fontRef idx="minor">
            <a:schemeClr val="tx1"/>
          </a:fontRef>
        </p:style>
      </p:cxnSp>
      <p:sp>
        <p:nvSpPr>
          <p:cNvPr id="13" name="ZoneTexte 36">
            <a:extLst>
              <a:ext uri="{FF2B5EF4-FFF2-40B4-BE49-F238E27FC236}">
                <a16:creationId xmlns:a16="http://schemas.microsoft.com/office/drawing/2014/main" id="{FA497367-BE1D-D426-07CD-DA973D20F79C}"/>
              </a:ext>
            </a:extLst>
          </p:cNvPr>
          <p:cNvSpPr txBox="1"/>
          <p:nvPr/>
        </p:nvSpPr>
        <p:spPr>
          <a:xfrm>
            <a:off x="2173076" y="4346118"/>
            <a:ext cx="1226230" cy="307777"/>
          </a:xfrm>
          <a:prstGeom prst="rect">
            <a:avLst/>
          </a:prstGeom>
          <a:noFill/>
        </p:spPr>
        <p:txBody>
          <a:bodyPr wrap="square" rtlCol="0">
            <a:spAutoFit/>
          </a:bodyPr>
          <a:lstStyle>
            <a:defPPr>
              <a:defRPr lang="fr-FR"/>
            </a:defPPr>
            <a:lvl1pPr algn="ctr">
              <a:defRPr sz="1400"/>
            </a:lvl1pPr>
          </a:lstStyle>
          <a:p>
            <a:r>
              <a:rPr lang="fr-FR" dirty="0"/>
              <a:t>Flight id</a:t>
            </a:r>
          </a:p>
        </p:txBody>
      </p:sp>
      <p:sp>
        <p:nvSpPr>
          <p:cNvPr id="14" name="ZoneTexte 37">
            <a:extLst>
              <a:ext uri="{FF2B5EF4-FFF2-40B4-BE49-F238E27FC236}">
                <a16:creationId xmlns:a16="http://schemas.microsoft.com/office/drawing/2014/main" id="{53F48F6D-CCC5-FEE8-5A6F-4C5C3E4D7CA2}"/>
              </a:ext>
            </a:extLst>
          </p:cNvPr>
          <p:cNvSpPr txBox="1"/>
          <p:nvPr/>
        </p:nvSpPr>
        <p:spPr>
          <a:xfrm>
            <a:off x="4570342" y="3406602"/>
            <a:ext cx="3140129" cy="523220"/>
          </a:xfrm>
          <a:prstGeom prst="rect">
            <a:avLst/>
          </a:prstGeom>
          <a:noFill/>
        </p:spPr>
        <p:txBody>
          <a:bodyPr wrap="square" rtlCol="0">
            <a:spAutoFit/>
          </a:bodyPr>
          <a:lstStyle/>
          <a:p>
            <a:pPr algn="ctr"/>
            <a:r>
              <a:rPr lang="fr-FR" sz="1400" dirty="0" err="1"/>
              <a:t>origin</a:t>
            </a:r>
            <a:r>
              <a:rPr lang="fr-FR" sz="1400" dirty="0"/>
              <a:t> </a:t>
            </a:r>
            <a:r>
              <a:rPr lang="fr-FR" sz="1400" dirty="0" err="1"/>
              <a:t>airport</a:t>
            </a:r>
            <a:r>
              <a:rPr lang="fr-FR" sz="1400" dirty="0"/>
              <a:t> ICAO code</a:t>
            </a:r>
          </a:p>
          <a:p>
            <a:pPr algn="ctr"/>
            <a:r>
              <a:rPr lang="fr-FR" sz="1400" dirty="0"/>
              <a:t>destination </a:t>
            </a:r>
            <a:r>
              <a:rPr lang="fr-FR" sz="1400" dirty="0" err="1"/>
              <a:t>airport</a:t>
            </a:r>
            <a:r>
              <a:rPr lang="fr-FR" sz="1400" dirty="0"/>
              <a:t> ICAO code</a:t>
            </a:r>
          </a:p>
        </p:txBody>
      </p:sp>
      <p:sp>
        <p:nvSpPr>
          <p:cNvPr id="15" name="ZoneTexte 43">
            <a:extLst>
              <a:ext uri="{FF2B5EF4-FFF2-40B4-BE49-F238E27FC236}">
                <a16:creationId xmlns:a16="http://schemas.microsoft.com/office/drawing/2014/main" id="{A9AEE91C-DE16-14B0-95FE-0FD93E8E0170}"/>
              </a:ext>
            </a:extLst>
          </p:cNvPr>
          <p:cNvSpPr txBox="1"/>
          <p:nvPr/>
        </p:nvSpPr>
        <p:spPr>
          <a:xfrm>
            <a:off x="6448548" y="5633738"/>
            <a:ext cx="2257702" cy="369332"/>
          </a:xfrm>
          <a:prstGeom prst="rect">
            <a:avLst/>
          </a:prstGeom>
          <a:noFill/>
        </p:spPr>
        <p:txBody>
          <a:bodyPr wrap="square" rtlCol="0">
            <a:spAutoFit/>
          </a:bodyPr>
          <a:lstStyle>
            <a:defPPr>
              <a:defRPr lang="fr-FR"/>
            </a:defPPr>
            <a:lvl1pPr algn="ctr">
              <a:defRPr sz="1400"/>
            </a:lvl1pPr>
          </a:lstStyle>
          <a:p>
            <a:r>
              <a:rPr lang="fr-FR" dirty="0"/>
              <a:t>Aircraft ICAO code</a:t>
            </a:r>
          </a:p>
        </p:txBody>
      </p:sp>
    </p:spTree>
    <p:extLst>
      <p:ext uri="{BB962C8B-B14F-4D97-AF65-F5344CB8AC3E}">
        <p14:creationId xmlns:p14="http://schemas.microsoft.com/office/powerpoint/2010/main" val="3242840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C2FA-975A-5CD0-F26B-922A8D78DD2E}"/>
              </a:ext>
            </a:extLst>
          </p:cNvPr>
          <p:cNvSpPr>
            <a:spLocks noGrp="1"/>
          </p:cNvSpPr>
          <p:nvPr>
            <p:ph type="title"/>
          </p:nvPr>
        </p:nvSpPr>
        <p:spPr>
          <a:xfrm>
            <a:off x="934278" y="2385599"/>
            <a:ext cx="10221015" cy="2769497"/>
          </a:xfrm>
        </p:spPr>
        <p:txBody>
          <a:bodyPr>
            <a:normAutofit fontScale="90000"/>
          </a:bodyPr>
          <a:lstStyle/>
          <a:p>
            <a:pPr lvl="0"/>
            <a:r>
              <a:rPr lang="fr-FR" sz="1800" dirty="0"/>
              <a:t>Set takeoff and landing date type as UTC</a:t>
            </a:r>
            <a:br>
              <a:rPr lang="en-GB" sz="1800" dirty="0"/>
            </a:br>
            <a:r>
              <a:rPr lang="fr-FR" sz="1800" dirty="0" err="1">
                <a:solidFill>
                  <a:srgbClr val="FFFFFF"/>
                </a:solidFill>
                <a:latin typeface="Calisto MT"/>
              </a:rPr>
              <a:t>Compute</a:t>
            </a:r>
            <a:r>
              <a:rPr lang="fr-FR" sz="1800" dirty="0">
                <a:solidFill>
                  <a:srgbClr val="FFFFFF"/>
                </a:solidFill>
                <a:latin typeface="Calisto MT"/>
              </a:rPr>
              <a:t> flight distance </a:t>
            </a:r>
            <a:r>
              <a:rPr lang="fr-FR" sz="1800" dirty="0" err="1">
                <a:solidFill>
                  <a:srgbClr val="FFFFFF"/>
                </a:solidFill>
                <a:latin typeface="Calisto MT"/>
              </a:rPr>
              <a:t>compute</a:t>
            </a:r>
            <a:r>
              <a:rPr lang="fr-FR" sz="1800" dirty="0">
                <a:solidFill>
                  <a:srgbClr val="FFFFFF"/>
                </a:solidFill>
                <a:latin typeface="Calisto MT"/>
              </a:rPr>
              <a:t> flight duration</a:t>
            </a:r>
            <a:br>
              <a:rPr lang="en-GB" sz="1800" dirty="0">
                <a:solidFill>
                  <a:srgbClr val="FFFFFF"/>
                </a:solidFill>
                <a:latin typeface="Calisto MT"/>
              </a:rPr>
            </a:br>
            <a:r>
              <a:rPr lang="fr-FR" sz="1800" dirty="0" err="1"/>
              <a:t>Extract</a:t>
            </a:r>
            <a:r>
              <a:rPr lang="fr-FR" sz="1800" dirty="0"/>
              <a:t> </a:t>
            </a:r>
            <a:r>
              <a:rPr lang="fr-FR" sz="1800" dirty="0" err="1"/>
              <a:t>year</a:t>
            </a:r>
            <a:r>
              <a:rPr lang="fr-FR" sz="1800" dirty="0"/>
              <a:t> </a:t>
            </a:r>
            <a:r>
              <a:rPr lang="fr-FR" sz="1800" dirty="0" err="1"/>
              <a:t>from</a:t>
            </a:r>
            <a:r>
              <a:rPr lang="fr-FR" sz="1800" dirty="0"/>
              <a:t> takeoff</a:t>
            </a:r>
            <a:br>
              <a:rPr lang="en-GB" sz="1800" dirty="0"/>
            </a:br>
            <a:r>
              <a:rPr lang="fr-FR" sz="1800" dirty="0" err="1"/>
              <a:t>Extract</a:t>
            </a:r>
            <a:r>
              <a:rPr lang="fr-FR" sz="1800" dirty="0"/>
              <a:t> </a:t>
            </a:r>
            <a:r>
              <a:rPr lang="fr-FR" sz="1800" dirty="0" err="1"/>
              <a:t>month</a:t>
            </a:r>
            <a:r>
              <a:rPr lang="fr-FR" sz="1800" dirty="0"/>
              <a:t> </a:t>
            </a:r>
            <a:r>
              <a:rPr lang="fr-FR" sz="1800" dirty="0" err="1"/>
              <a:t>from</a:t>
            </a:r>
            <a:r>
              <a:rPr lang="fr-FR" sz="1800" dirty="0"/>
              <a:t> takeoff</a:t>
            </a:r>
            <a:br>
              <a:rPr lang="en-GB" sz="1800" dirty="0"/>
            </a:br>
            <a:r>
              <a:rPr lang="fr-FR" sz="1800" dirty="0" err="1"/>
              <a:t>Extract</a:t>
            </a:r>
            <a:r>
              <a:rPr lang="fr-FR" sz="1800" dirty="0"/>
              <a:t> </a:t>
            </a:r>
            <a:r>
              <a:rPr lang="fr-FR" sz="1800" dirty="0" err="1"/>
              <a:t>day</a:t>
            </a:r>
            <a:r>
              <a:rPr lang="fr-FR" sz="1800" dirty="0"/>
              <a:t> of the </a:t>
            </a:r>
            <a:r>
              <a:rPr lang="fr-FR" sz="1800" dirty="0" err="1"/>
              <a:t>year</a:t>
            </a:r>
            <a:r>
              <a:rPr lang="fr-FR" sz="1800" dirty="0"/>
              <a:t> (1..365) </a:t>
            </a:r>
            <a:r>
              <a:rPr lang="fr-FR" sz="1800" dirty="0" err="1"/>
              <a:t>from</a:t>
            </a:r>
            <a:r>
              <a:rPr lang="fr-FR" sz="1800" dirty="0"/>
              <a:t> takeoff</a:t>
            </a:r>
            <a:br>
              <a:rPr lang="fr-FR" sz="1800" dirty="0"/>
            </a:br>
            <a:br>
              <a:rPr lang="en-GB" sz="1800" dirty="0"/>
            </a:br>
            <a:r>
              <a:rPr lang="fr-FR" sz="1800" dirty="0" err="1"/>
              <a:t>Compute</a:t>
            </a:r>
            <a:r>
              <a:rPr lang="fr-FR" sz="1800" dirty="0"/>
              <a:t> distance (</a:t>
            </a:r>
            <a:r>
              <a:rPr lang="fr-FR" sz="1800" dirty="0" err="1"/>
              <a:t>great</a:t>
            </a:r>
            <a:r>
              <a:rPr lang="fr-FR" sz="1800" dirty="0"/>
              <a:t> </a:t>
            </a:r>
            <a:r>
              <a:rPr lang="fr-FR" sz="1800" dirty="0" err="1"/>
              <a:t>circle</a:t>
            </a:r>
            <a:r>
              <a:rPr lang="fr-FR" sz="1800" dirty="0"/>
              <a:t>) </a:t>
            </a:r>
            <a:r>
              <a:rPr lang="fr-FR" sz="1800" dirty="0" err="1"/>
              <a:t>between</a:t>
            </a:r>
            <a:r>
              <a:rPr lang="fr-FR" sz="1800" dirty="0"/>
              <a:t> </a:t>
            </a:r>
            <a:r>
              <a:rPr lang="fr-FR" sz="1800" dirty="0" err="1"/>
              <a:t>departure</a:t>
            </a:r>
            <a:r>
              <a:rPr lang="fr-FR" sz="1800" dirty="0"/>
              <a:t> and </a:t>
            </a:r>
            <a:r>
              <a:rPr lang="fr-FR" sz="1800" dirty="0" err="1"/>
              <a:t>arrival</a:t>
            </a:r>
            <a:br>
              <a:rPr lang="fr-FR" sz="1800" dirty="0"/>
            </a:br>
            <a:r>
              <a:rPr lang="fr-FR" sz="1800" dirty="0" err="1"/>
              <a:t>compute</a:t>
            </a:r>
            <a:r>
              <a:rPr lang="fr-FR" sz="1800" dirty="0"/>
              <a:t> flight duration </a:t>
            </a:r>
            <a:r>
              <a:rPr lang="fr-FR" sz="1800" dirty="0" err="1"/>
              <a:t>between</a:t>
            </a:r>
            <a:r>
              <a:rPr lang="fr-FR" sz="1800" dirty="0"/>
              <a:t> takeoff and landing</a:t>
            </a:r>
            <a:br>
              <a:rPr lang="en-GB" sz="1800" dirty="0"/>
            </a:br>
            <a:r>
              <a:rPr lang="fr-FR" sz="1800" dirty="0"/>
              <a:t>Principles </a:t>
            </a:r>
            <a:r>
              <a:rPr lang="fr-FR" sz="1800" dirty="0" err="1"/>
              <a:t>is</a:t>
            </a:r>
            <a:r>
              <a:rPr lang="fr-FR" sz="1800" dirty="0"/>
              <a:t> to </a:t>
            </a:r>
            <a:r>
              <a:rPr lang="fr-FR" sz="1800" dirty="0" err="1"/>
              <a:t>get</a:t>
            </a:r>
            <a:r>
              <a:rPr lang="fr-FR" sz="1800" dirty="0"/>
              <a:t> </a:t>
            </a:r>
            <a:r>
              <a:rPr lang="fr-FR" sz="1800" dirty="0" err="1"/>
              <a:t>rid</a:t>
            </a:r>
            <a:r>
              <a:rPr lang="fr-FR" sz="1800" dirty="0"/>
              <a:t> of </a:t>
            </a:r>
            <a:r>
              <a:rPr lang="fr-FR" sz="1800" dirty="0" err="1"/>
              <a:t>absolute</a:t>
            </a:r>
            <a:r>
              <a:rPr lang="fr-FR" sz="1800" dirty="0"/>
              <a:t> </a:t>
            </a:r>
            <a:r>
              <a:rPr lang="fr-FR" sz="1800" dirty="0" err="1"/>
              <a:t>datetime</a:t>
            </a:r>
            <a:br>
              <a:rPr lang="en-GB" sz="1800" dirty="0"/>
            </a:br>
            <a:endParaRPr lang="en-GB" sz="1800" dirty="0"/>
          </a:p>
        </p:txBody>
      </p:sp>
      <p:sp>
        <p:nvSpPr>
          <p:cNvPr id="4" name="Title 1">
            <a:extLst>
              <a:ext uri="{FF2B5EF4-FFF2-40B4-BE49-F238E27FC236}">
                <a16:creationId xmlns:a16="http://schemas.microsoft.com/office/drawing/2014/main" id="{723BA14C-9A08-04CC-356E-A1ABC5018FC7}"/>
              </a:ext>
            </a:extLst>
          </p:cNvPr>
          <p:cNvSpPr txBox="1">
            <a:spLocks/>
          </p:cNvSpPr>
          <p:nvPr/>
        </p:nvSpPr>
        <p:spPr>
          <a:xfrm>
            <a:off x="750367" y="708992"/>
            <a:ext cx="10691265" cy="1307592"/>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6000" kern="1200" cap="all" spc="30" baseline="0">
                <a:solidFill>
                  <a:schemeClr val="tx1"/>
                </a:solidFill>
                <a:latin typeface="+mj-lt"/>
                <a:ea typeface="+mj-ea"/>
                <a:cs typeface="+mj-cs"/>
              </a:defRPr>
            </a:lvl1pPr>
          </a:lstStyle>
          <a:p>
            <a:r>
              <a:rPr lang="fr-FR"/>
              <a:t>Extend Flight list records</a:t>
            </a:r>
            <a:endParaRPr lang="en-GB" dirty="0"/>
          </a:p>
        </p:txBody>
      </p:sp>
    </p:spTree>
    <p:extLst>
      <p:ext uri="{BB962C8B-B14F-4D97-AF65-F5344CB8AC3E}">
        <p14:creationId xmlns:p14="http://schemas.microsoft.com/office/powerpoint/2010/main" val="165917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DE229-E2EE-E613-EB23-180F8FB00C6A}"/>
              </a:ext>
            </a:extLst>
          </p:cNvPr>
          <p:cNvSpPr>
            <a:spLocks noGrp="1"/>
          </p:cNvSpPr>
          <p:nvPr>
            <p:ph type="title"/>
          </p:nvPr>
        </p:nvSpPr>
        <p:spPr/>
        <p:txBody>
          <a:bodyPr/>
          <a:lstStyle/>
          <a:p>
            <a:r>
              <a:rPr lang="fr-FR" dirty="0" err="1"/>
              <a:t>Extend</a:t>
            </a:r>
            <a:r>
              <a:rPr lang="fr-FR" dirty="0"/>
              <a:t> flight </a:t>
            </a:r>
            <a:r>
              <a:rPr lang="fr-FR" dirty="0" err="1"/>
              <a:t>list</a:t>
            </a:r>
            <a:r>
              <a:rPr lang="fr-FR" dirty="0"/>
              <a:t> data</a:t>
            </a:r>
            <a:endParaRPr lang="en-GB" dirty="0"/>
          </a:p>
        </p:txBody>
      </p:sp>
      <p:sp>
        <p:nvSpPr>
          <p:cNvPr id="3" name="Content Placeholder 2">
            <a:extLst>
              <a:ext uri="{FF2B5EF4-FFF2-40B4-BE49-F238E27FC236}">
                <a16:creationId xmlns:a16="http://schemas.microsoft.com/office/drawing/2014/main" id="{FC7F064D-2914-2701-5804-7FC00065331F}"/>
              </a:ext>
            </a:extLst>
          </p:cNvPr>
          <p:cNvSpPr>
            <a:spLocks noGrp="1"/>
          </p:cNvSpPr>
          <p:nvPr>
            <p:ph idx="1"/>
          </p:nvPr>
        </p:nvSpPr>
        <p:spPr>
          <a:xfrm>
            <a:off x="700635" y="1887794"/>
            <a:ext cx="10691265" cy="4074094"/>
          </a:xfrm>
        </p:spPr>
        <p:txBody>
          <a:bodyPr>
            <a:normAutofit/>
          </a:bodyPr>
          <a:lstStyle/>
          <a:p>
            <a:r>
              <a:rPr lang="en-US" noProof="0" dirty="0"/>
              <a:t>Suppress airport names</a:t>
            </a:r>
          </a:p>
          <a:p>
            <a:r>
              <a:rPr lang="en-US" noProof="0" dirty="0"/>
              <a:t>Compute distance (Nautical miles) between departure and arrival airport</a:t>
            </a:r>
          </a:p>
          <a:p>
            <a:r>
              <a:rPr lang="en-US" noProof="0" dirty="0"/>
              <a:t>Convert all Date Time instant to UTC</a:t>
            </a:r>
          </a:p>
          <a:p>
            <a:r>
              <a:rPr lang="en-US" noProof="0" dirty="0"/>
              <a:t>Compute flight time between flight takeoff and flight landed</a:t>
            </a:r>
          </a:p>
          <a:p>
            <a:r>
              <a:rPr lang="en-US" noProof="0" dirty="0"/>
              <a:t>Use time difference for all instant versus flight takeoff</a:t>
            </a:r>
          </a:p>
          <a:p>
            <a:r>
              <a:rPr lang="en-US" noProof="0" dirty="0"/>
              <a:t>Add Year and month including day number in the current year (range 1 to 365)</a:t>
            </a:r>
          </a:p>
          <a:p>
            <a:r>
              <a:rPr lang="en-US"/>
              <a:t>Suppres</a:t>
            </a:r>
            <a:r>
              <a:rPr lang="en-US" dirty="0"/>
              <a:t> absolute dates as they are replaced by relative ones from takeoff instant</a:t>
            </a:r>
            <a:endParaRPr lang="en-US" noProof="0" dirty="0"/>
          </a:p>
        </p:txBody>
      </p:sp>
    </p:spTree>
    <p:extLst>
      <p:ext uri="{BB962C8B-B14F-4D97-AF65-F5344CB8AC3E}">
        <p14:creationId xmlns:p14="http://schemas.microsoft.com/office/powerpoint/2010/main" val="3178240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8FF40-B1DC-DA73-B06B-AFB8339AC61C}"/>
              </a:ext>
            </a:extLst>
          </p:cNvPr>
          <p:cNvSpPr>
            <a:spLocks noGrp="1"/>
          </p:cNvSpPr>
          <p:nvPr>
            <p:ph type="title"/>
          </p:nvPr>
        </p:nvSpPr>
        <p:spPr/>
        <p:txBody>
          <a:bodyPr>
            <a:normAutofit fontScale="90000"/>
          </a:bodyPr>
          <a:lstStyle/>
          <a:p>
            <a:r>
              <a:rPr lang="fr-FR" dirty="0"/>
              <a:t>Check </a:t>
            </a:r>
            <a:r>
              <a:rPr lang="fr-FR" dirty="0" err="1"/>
              <a:t>great</a:t>
            </a:r>
            <a:r>
              <a:rPr lang="fr-FR" dirty="0"/>
              <a:t> </a:t>
            </a:r>
            <a:r>
              <a:rPr lang="fr-FR" dirty="0" err="1"/>
              <a:t>circle</a:t>
            </a:r>
            <a:r>
              <a:rPr lang="fr-FR" dirty="0"/>
              <a:t> distance (in </a:t>
            </a:r>
            <a:r>
              <a:rPr lang="fr-FR" dirty="0" err="1"/>
              <a:t>nautical</a:t>
            </a:r>
            <a:r>
              <a:rPr lang="fr-FR" dirty="0"/>
              <a:t> miles)</a:t>
            </a:r>
            <a:endParaRPr lang="en-GB" dirty="0"/>
          </a:p>
        </p:txBody>
      </p:sp>
      <p:pic>
        <p:nvPicPr>
          <p:cNvPr id="4" name="Picture 3">
            <a:extLst>
              <a:ext uri="{FF2B5EF4-FFF2-40B4-BE49-F238E27FC236}">
                <a16:creationId xmlns:a16="http://schemas.microsoft.com/office/drawing/2014/main" id="{1D22F947-EE42-3284-80ED-10668D110B13}"/>
              </a:ext>
            </a:extLst>
          </p:cNvPr>
          <p:cNvPicPr>
            <a:picLocks noChangeAspect="1"/>
          </p:cNvPicPr>
          <p:nvPr/>
        </p:nvPicPr>
        <p:blipFill>
          <a:blip r:embed="rId2"/>
          <a:stretch>
            <a:fillRect/>
          </a:stretch>
        </p:blipFill>
        <p:spPr>
          <a:xfrm>
            <a:off x="5807774" y="2278855"/>
            <a:ext cx="5724080" cy="3864769"/>
          </a:xfrm>
          <a:prstGeom prst="rect">
            <a:avLst/>
          </a:prstGeom>
        </p:spPr>
      </p:pic>
      <p:graphicFrame>
        <p:nvGraphicFramePr>
          <p:cNvPr id="5" name="Table 4">
            <a:extLst>
              <a:ext uri="{FF2B5EF4-FFF2-40B4-BE49-F238E27FC236}">
                <a16:creationId xmlns:a16="http://schemas.microsoft.com/office/drawing/2014/main" id="{5FDC8804-ACC2-943C-DA6E-BBDF352A5B55}"/>
              </a:ext>
            </a:extLst>
          </p:cNvPr>
          <p:cNvGraphicFramePr>
            <a:graphicFrameLocks noGrp="1"/>
          </p:cNvGraphicFramePr>
          <p:nvPr>
            <p:extLst>
              <p:ext uri="{D42A27DB-BD31-4B8C-83A1-F6EECF244321}">
                <p14:modId xmlns:p14="http://schemas.microsoft.com/office/powerpoint/2010/main" val="2711920086"/>
              </p:ext>
            </p:extLst>
          </p:nvPr>
        </p:nvGraphicFramePr>
        <p:xfrm>
          <a:off x="474409" y="1646682"/>
          <a:ext cx="11155616" cy="406400"/>
        </p:xfrm>
        <a:graphic>
          <a:graphicData uri="http://schemas.openxmlformats.org/drawingml/2006/table">
            <a:tbl>
              <a:tblPr>
                <a:tableStyleId>{5C22544A-7EE6-4342-B048-85BDC9FD1C3A}</a:tableStyleId>
              </a:tblPr>
              <a:tblGrid>
                <a:gridCol w="1195200">
                  <a:extLst>
                    <a:ext uri="{9D8B030D-6E8A-4147-A177-3AD203B41FA5}">
                      <a16:colId xmlns:a16="http://schemas.microsoft.com/office/drawing/2014/main" val="1270477815"/>
                    </a:ext>
                  </a:extLst>
                </a:gridCol>
                <a:gridCol w="3290681">
                  <a:extLst>
                    <a:ext uri="{9D8B030D-6E8A-4147-A177-3AD203B41FA5}">
                      <a16:colId xmlns:a16="http://schemas.microsoft.com/office/drawing/2014/main" val="2009983148"/>
                    </a:ext>
                  </a:extLst>
                </a:gridCol>
                <a:gridCol w="1583252">
                  <a:extLst>
                    <a:ext uri="{9D8B030D-6E8A-4147-A177-3AD203B41FA5}">
                      <a16:colId xmlns:a16="http://schemas.microsoft.com/office/drawing/2014/main" val="2414279540"/>
                    </a:ext>
                  </a:extLst>
                </a:gridCol>
                <a:gridCol w="2793975">
                  <a:extLst>
                    <a:ext uri="{9D8B030D-6E8A-4147-A177-3AD203B41FA5}">
                      <a16:colId xmlns:a16="http://schemas.microsoft.com/office/drawing/2014/main" val="1883638044"/>
                    </a:ext>
                  </a:extLst>
                </a:gridCol>
                <a:gridCol w="2292508">
                  <a:extLst>
                    <a:ext uri="{9D8B030D-6E8A-4147-A177-3AD203B41FA5}">
                      <a16:colId xmlns:a16="http://schemas.microsoft.com/office/drawing/2014/main" val="4100737782"/>
                    </a:ext>
                  </a:extLst>
                </a:gridCol>
              </a:tblGrid>
              <a:tr h="203200">
                <a:tc>
                  <a:txBody>
                    <a:bodyPr/>
                    <a:lstStyle/>
                    <a:p>
                      <a:pPr algn="ctr" fontAlgn="ctr">
                        <a:buNone/>
                      </a:pPr>
                      <a:r>
                        <a:rPr lang="en-GB" sz="1200" u="none" strike="noStrike" dirty="0" err="1">
                          <a:effectLst/>
                        </a:rPr>
                        <a:t>origin_icao</a:t>
                      </a:r>
                      <a:r>
                        <a:rPr lang="en-GB" sz="1200" u="none" strike="noStrike" dirty="0">
                          <a:effectLst/>
                        </a:rPr>
                        <a:t>  </a:t>
                      </a:r>
                      <a:endParaRPr lang="en-GB" sz="1200" b="0" i="0" u="none" strike="noStrike" dirty="0">
                        <a:solidFill>
                          <a:srgbClr val="000000"/>
                        </a:solidFill>
                        <a:effectLst/>
                        <a:latin typeface="Century Gothic" panose="020B0502020202020204" pitchFamily="34" charset="0"/>
                      </a:endParaRPr>
                    </a:p>
                  </a:txBody>
                  <a:tcPr marL="6350" marR="6350" marT="6350" marB="0" anchor="ctr"/>
                </a:tc>
                <a:tc>
                  <a:txBody>
                    <a:bodyPr/>
                    <a:lstStyle/>
                    <a:p>
                      <a:pPr algn="ctr" fontAlgn="ctr">
                        <a:buNone/>
                      </a:pPr>
                      <a:r>
                        <a:rPr lang="en-GB" sz="1200" u="none" strike="noStrike" dirty="0" err="1">
                          <a:effectLst/>
                        </a:rPr>
                        <a:t>origin_name</a:t>
                      </a:r>
                      <a:r>
                        <a:rPr lang="en-GB" sz="1200" u="none" strike="noStrike" dirty="0">
                          <a:effectLst/>
                        </a:rPr>
                        <a:t> </a:t>
                      </a:r>
                      <a:endParaRPr lang="en-GB" sz="1200" b="0" i="0" u="none" strike="noStrike" dirty="0">
                        <a:solidFill>
                          <a:srgbClr val="000000"/>
                        </a:solidFill>
                        <a:effectLst/>
                        <a:latin typeface="Century Gothic" panose="020B0502020202020204" pitchFamily="34" charset="0"/>
                      </a:endParaRPr>
                    </a:p>
                  </a:txBody>
                  <a:tcPr marL="6350" marR="6350" marT="6350" marB="0" anchor="ctr"/>
                </a:tc>
                <a:tc>
                  <a:txBody>
                    <a:bodyPr/>
                    <a:lstStyle/>
                    <a:p>
                      <a:pPr algn="ctr" fontAlgn="ctr">
                        <a:buNone/>
                      </a:pPr>
                      <a:r>
                        <a:rPr lang="en-GB" sz="1200" u="none" strike="noStrike" dirty="0" err="1">
                          <a:effectLst/>
                        </a:rPr>
                        <a:t>destination_icao</a:t>
                      </a:r>
                      <a:endParaRPr lang="en-GB" sz="1200" b="0" i="0" u="none" strike="noStrike" dirty="0">
                        <a:solidFill>
                          <a:srgbClr val="000000"/>
                        </a:solidFill>
                        <a:effectLst/>
                        <a:latin typeface="Century Gothic" panose="020B0502020202020204" pitchFamily="34" charset="0"/>
                      </a:endParaRPr>
                    </a:p>
                  </a:txBody>
                  <a:tcPr marL="6350" marR="6350" marT="6350" marB="0" anchor="ctr"/>
                </a:tc>
                <a:tc>
                  <a:txBody>
                    <a:bodyPr/>
                    <a:lstStyle/>
                    <a:p>
                      <a:pPr algn="ctr" fontAlgn="ctr">
                        <a:buNone/>
                      </a:pPr>
                      <a:r>
                        <a:rPr lang="en-GB" sz="1200" u="none" strike="noStrike" dirty="0" err="1">
                          <a:effectLst/>
                        </a:rPr>
                        <a:t>destination_name</a:t>
                      </a:r>
                      <a:endParaRPr lang="en-GB" sz="1200" b="0" i="0" u="none" strike="noStrike" dirty="0">
                        <a:solidFill>
                          <a:srgbClr val="000000"/>
                        </a:solidFill>
                        <a:effectLst/>
                        <a:latin typeface="Century Gothic" panose="020B0502020202020204" pitchFamily="34" charset="0"/>
                      </a:endParaRPr>
                    </a:p>
                  </a:txBody>
                  <a:tcPr marL="6350" marR="6350" marT="6350" marB="0" anchor="ctr"/>
                </a:tc>
                <a:tc>
                  <a:txBody>
                    <a:bodyPr/>
                    <a:lstStyle/>
                    <a:p>
                      <a:pPr algn="ctr" fontAlgn="ctr">
                        <a:buNone/>
                      </a:pPr>
                      <a:r>
                        <a:rPr lang="en-GB" sz="1200" u="none" strike="noStrike" dirty="0" err="1">
                          <a:effectLst/>
                        </a:rPr>
                        <a:t>flight_distance_Nautical</a:t>
                      </a:r>
                      <a:r>
                        <a:rPr lang="en-GB" sz="1200" u="none" strike="noStrike" dirty="0">
                          <a:effectLst/>
                        </a:rPr>
                        <a:t> miles</a:t>
                      </a:r>
                      <a:endParaRPr lang="en-GB" sz="1200" b="0" i="0" u="none" strike="noStrike" dirty="0">
                        <a:solidFill>
                          <a:srgbClr val="000000"/>
                        </a:solidFill>
                        <a:effectLst/>
                        <a:latin typeface="Century Gothic" panose="020B0502020202020204" pitchFamily="34" charset="0"/>
                      </a:endParaRPr>
                    </a:p>
                  </a:txBody>
                  <a:tcPr marL="6350" marR="6350" marT="6350" marB="0" anchor="ctr"/>
                </a:tc>
                <a:extLst>
                  <a:ext uri="{0D108BD9-81ED-4DB2-BD59-A6C34878D82A}">
                    <a16:rowId xmlns:a16="http://schemas.microsoft.com/office/drawing/2014/main" val="1375685856"/>
                  </a:ext>
                </a:extLst>
              </a:tr>
              <a:tr h="203200">
                <a:tc>
                  <a:txBody>
                    <a:bodyPr/>
                    <a:lstStyle/>
                    <a:p>
                      <a:pPr algn="ctr" fontAlgn="ctr">
                        <a:buNone/>
                      </a:pPr>
                      <a:r>
                        <a:rPr lang="en-GB" sz="1200" u="none" strike="noStrike">
                          <a:effectLst/>
                        </a:rPr>
                        <a:t>MMGL</a:t>
                      </a:r>
                      <a:endParaRPr lang="en-GB" sz="1200" b="0" i="0" u="none" strike="noStrike">
                        <a:solidFill>
                          <a:srgbClr val="000000"/>
                        </a:solidFill>
                        <a:effectLst/>
                        <a:latin typeface="Century Gothic" panose="020B0502020202020204" pitchFamily="34" charset="0"/>
                      </a:endParaRPr>
                    </a:p>
                  </a:txBody>
                  <a:tcPr marL="6350" marR="6350" marT="6350" marB="0" anchor="ctr"/>
                </a:tc>
                <a:tc>
                  <a:txBody>
                    <a:bodyPr/>
                    <a:lstStyle/>
                    <a:p>
                      <a:pPr algn="ctr" fontAlgn="ctr">
                        <a:buNone/>
                      </a:pPr>
                      <a:r>
                        <a:rPr lang="en-GB" sz="1200" u="none" strike="noStrike">
                          <a:effectLst/>
                        </a:rPr>
                        <a:t>Guadalajara International Airport </a:t>
                      </a:r>
                      <a:endParaRPr lang="en-GB" sz="1200" b="0" i="0" u="none" strike="noStrike">
                        <a:solidFill>
                          <a:srgbClr val="000000"/>
                        </a:solidFill>
                        <a:effectLst/>
                        <a:latin typeface="Century Gothic" panose="020B0502020202020204" pitchFamily="34" charset="0"/>
                      </a:endParaRPr>
                    </a:p>
                  </a:txBody>
                  <a:tcPr marL="6350" marR="6350" marT="6350" marB="0" anchor="ctr"/>
                </a:tc>
                <a:tc>
                  <a:txBody>
                    <a:bodyPr/>
                    <a:lstStyle/>
                    <a:p>
                      <a:pPr algn="ctr" fontAlgn="b">
                        <a:buNone/>
                      </a:pPr>
                      <a:r>
                        <a:rPr lang="en-GB" sz="1200" u="none" strike="noStrike">
                          <a:effectLst/>
                        </a:rPr>
                        <a:t>KOAK</a:t>
                      </a:r>
                      <a:endParaRPr lang="en-GB" sz="1200" b="0" i="0" u="none" strike="noStrike">
                        <a:solidFill>
                          <a:srgbClr val="000000"/>
                        </a:solidFill>
                        <a:effectLst/>
                        <a:latin typeface="Century Gothic" panose="020B0502020202020204" pitchFamily="34" charset="0"/>
                      </a:endParaRPr>
                    </a:p>
                  </a:txBody>
                  <a:tcPr marL="6350" marR="6350" marT="6350" marB="0" anchor="b"/>
                </a:tc>
                <a:tc>
                  <a:txBody>
                    <a:bodyPr/>
                    <a:lstStyle/>
                    <a:p>
                      <a:pPr algn="ctr" fontAlgn="ctr">
                        <a:buNone/>
                      </a:pPr>
                      <a:r>
                        <a:rPr lang="en-GB" sz="1200" u="none" strike="noStrike">
                          <a:effectLst/>
                        </a:rPr>
                        <a:t>Oakland International Airport</a:t>
                      </a:r>
                      <a:endParaRPr lang="en-GB" sz="1200" b="0" i="0" u="none" strike="noStrike">
                        <a:solidFill>
                          <a:srgbClr val="000000"/>
                        </a:solidFill>
                        <a:effectLst/>
                        <a:latin typeface="Century Gothic" panose="020B0502020202020204" pitchFamily="34" charset="0"/>
                      </a:endParaRPr>
                    </a:p>
                  </a:txBody>
                  <a:tcPr marL="6350" marR="6350" marT="6350" marB="0" anchor="ctr"/>
                </a:tc>
                <a:tc>
                  <a:txBody>
                    <a:bodyPr/>
                    <a:lstStyle/>
                    <a:p>
                      <a:pPr algn="ctr" fontAlgn="ctr">
                        <a:buNone/>
                      </a:pPr>
                      <a:r>
                        <a:rPr lang="en-GB" sz="1200" u="none" strike="noStrike" dirty="0">
                          <a:effectLst/>
                        </a:rPr>
                        <a:t>1427.58</a:t>
                      </a:r>
                      <a:endParaRPr lang="en-GB" sz="1200" b="0" i="0" u="none" strike="noStrike" dirty="0">
                        <a:solidFill>
                          <a:srgbClr val="000000"/>
                        </a:solidFill>
                        <a:effectLst/>
                        <a:latin typeface="Century Gothic" panose="020B0502020202020204" pitchFamily="34" charset="0"/>
                      </a:endParaRPr>
                    </a:p>
                  </a:txBody>
                  <a:tcPr marL="6350" marR="6350" marT="6350" marB="0" anchor="ctr"/>
                </a:tc>
                <a:extLst>
                  <a:ext uri="{0D108BD9-81ED-4DB2-BD59-A6C34878D82A}">
                    <a16:rowId xmlns:a16="http://schemas.microsoft.com/office/drawing/2014/main" val="90120590"/>
                  </a:ext>
                </a:extLst>
              </a:tr>
            </a:tbl>
          </a:graphicData>
        </a:graphic>
      </p:graphicFrame>
      <p:pic>
        <p:nvPicPr>
          <p:cNvPr id="7" name="Picture 6">
            <a:extLst>
              <a:ext uri="{FF2B5EF4-FFF2-40B4-BE49-F238E27FC236}">
                <a16:creationId xmlns:a16="http://schemas.microsoft.com/office/drawing/2014/main" id="{1B8417D3-3A17-553D-A9C1-73D69D739065}"/>
              </a:ext>
            </a:extLst>
          </p:cNvPr>
          <p:cNvPicPr>
            <a:picLocks noChangeAspect="1"/>
          </p:cNvPicPr>
          <p:nvPr/>
        </p:nvPicPr>
        <p:blipFill>
          <a:blip r:embed="rId3"/>
          <a:stretch>
            <a:fillRect/>
          </a:stretch>
        </p:blipFill>
        <p:spPr>
          <a:xfrm>
            <a:off x="923598" y="2650140"/>
            <a:ext cx="4686954" cy="2743583"/>
          </a:xfrm>
          <a:prstGeom prst="rect">
            <a:avLst/>
          </a:prstGeom>
        </p:spPr>
      </p:pic>
    </p:spTree>
    <p:extLst>
      <p:ext uri="{BB962C8B-B14F-4D97-AF65-F5344CB8AC3E}">
        <p14:creationId xmlns:p14="http://schemas.microsoft.com/office/powerpoint/2010/main" val="884570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33D3-0EB1-ABF7-6550-713ABD2948F4}"/>
              </a:ext>
            </a:extLst>
          </p:cNvPr>
          <p:cNvSpPr>
            <a:spLocks noGrp="1"/>
          </p:cNvSpPr>
          <p:nvPr>
            <p:ph type="title"/>
          </p:nvPr>
        </p:nvSpPr>
        <p:spPr>
          <a:xfrm>
            <a:off x="457201" y="914400"/>
            <a:ext cx="10934700" cy="1019176"/>
          </a:xfrm>
        </p:spPr>
        <p:txBody>
          <a:bodyPr>
            <a:normAutofit/>
          </a:bodyPr>
          <a:lstStyle/>
          <a:p>
            <a:r>
              <a:rPr lang="fr-FR" sz="2800" dirty="0" err="1"/>
              <a:t>Feature</a:t>
            </a:r>
            <a:r>
              <a:rPr lang="fr-FR" sz="2800" dirty="0"/>
              <a:t> engineering</a:t>
            </a:r>
            <a:br>
              <a:rPr lang="fr-FR" sz="2800" dirty="0"/>
            </a:br>
            <a:r>
              <a:rPr lang="fr-FR" sz="2800" dirty="0"/>
              <a:t>https://skybrary.aero/articles/heading-track-and-radial</a:t>
            </a:r>
            <a:endParaRPr lang="en-GB" sz="2800" dirty="0"/>
          </a:p>
        </p:txBody>
      </p:sp>
      <p:sp>
        <p:nvSpPr>
          <p:cNvPr id="3" name="Content Placeholder 2">
            <a:extLst>
              <a:ext uri="{FF2B5EF4-FFF2-40B4-BE49-F238E27FC236}">
                <a16:creationId xmlns:a16="http://schemas.microsoft.com/office/drawing/2014/main" id="{B936567C-FDAC-3C51-3174-81C3970593A6}"/>
              </a:ext>
            </a:extLst>
          </p:cNvPr>
          <p:cNvSpPr>
            <a:spLocks noGrp="1"/>
          </p:cNvSpPr>
          <p:nvPr>
            <p:ph idx="1"/>
          </p:nvPr>
        </p:nvSpPr>
        <p:spPr>
          <a:xfrm>
            <a:off x="943389" y="2003331"/>
            <a:ext cx="9620250" cy="3739896"/>
          </a:xfrm>
        </p:spPr>
        <p:txBody>
          <a:bodyPr>
            <a:normAutofit fontScale="92500"/>
          </a:bodyPr>
          <a:lstStyle/>
          <a:p>
            <a:r>
              <a:rPr lang="en-GB" b="1" dirty="0"/>
              <a:t>Heading.</a:t>
            </a:r>
            <a:r>
              <a:rPr lang="en-GB" dirty="0"/>
              <a:t> The direction in which the longitudinal axis of an aircraft is pointed, usually expressed in degrees from North (true, magnetic, compass or grid). </a:t>
            </a:r>
            <a:r>
              <a:rPr lang="en-GB" i="1" dirty="0"/>
              <a:t>(Source: ICAO)</a:t>
            </a:r>
          </a:p>
          <a:p>
            <a:r>
              <a:rPr lang="en-GB" b="1" dirty="0"/>
              <a:t>Track.</a:t>
            </a:r>
            <a:r>
              <a:rPr lang="en-GB" dirty="0"/>
              <a:t> The projection on the earth’s surface of the path of an aircraft, the direction of which path at any point is usually expressed in degrees from North (true, magnetic or grid). </a:t>
            </a:r>
            <a:r>
              <a:rPr lang="en-GB" i="1" dirty="0"/>
              <a:t>(Source: ICAO)</a:t>
            </a:r>
          </a:p>
          <a:p>
            <a:pPr fontAlgn="base"/>
            <a:r>
              <a:rPr lang="en-GB" b="1" dirty="0"/>
              <a:t>Radial.</a:t>
            </a:r>
            <a:r>
              <a:rPr lang="en-GB" dirty="0"/>
              <a:t> A magnetic bearing extending from a VOR/VORTAC/TACAN. </a:t>
            </a:r>
            <a:r>
              <a:rPr lang="en-GB" i="1" dirty="0"/>
              <a:t>(Source: UK CAA)</a:t>
            </a:r>
            <a:endParaRPr lang="en-GB" dirty="0"/>
          </a:p>
          <a:p>
            <a:pPr fontAlgn="base"/>
            <a:r>
              <a:rPr lang="en-GB" b="1" dirty="0"/>
              <a:t>Bearing.</a:t>
            </a:r>
            <a:r>
              <a:rPr lang="en-GB" dirty="0"/>
              <a:t> The horizontal direction to or from any point, usually measured clockwise from true north, magnetic north, or some other reference point through 360 degrees. </a:t>
            </a:r>
            <a:r>
              <a:rPr lang="en-GB" i="1" dirty="0"/>
              <a:t>(Source: US FAA)</a:t>
            </a:r>
            <a:endParaRPr lang="en-GB" dirty="0"/>
          </a:p>
          <a:p>
            <a:endParaRPr lang="en-GB" dirty="0"/>
          </a:p>
        </p:txBody>
      </p:sp>
      <p:pic>
        <p:nvPicPr>
          <p:cNvPr id="1026" name="Picture 2">
            <a:extLst>
              <a:ext uri="{FF2B5EF4-FFF2-40B4-BE49-F238E27FC236}">
                <a16:creationId xmlns:a16="http://schemas.microsoft.com/office/drawing/2014/main" id="{17BDA59F-032C-97E2-588F-E5154542C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713" y="-84138"/>
            <a:ext cx="971550" cy="1019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107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E152-7776-9735-D007-0C6F23BB71D0}"/>
              </a:ext>
            </a:extLst>
          </p:cNvPr>
          <p:cNvSpPr>
            <a:spLocks noGrp="1"/>
          </p:cNvSpPr>
          <p:nvPr>
            <p:ph type="title"/>
          </p:nvPr>
        </p:nvSpPr>
        <p:spPr/>
        <p:txBody>
          <a:bodyPr/>
          <a:lstStyle/>
          <a:p>
            <a:r>
              <a:rPr lang="en-US" dirty="0"/>
              <a:t>Feature engineering of track angles</a:t>
            </a:r>
          </a:p>
        </p:txBody>
      </p:sp>
      <p:sp>
        <p:nvSpPr>
          <p:cNvPr id="3" name="Content Placeholder 2">
            <a:extLst>
              <a:ext uri="{FF2B5EF4-FFF2-40B4-BE49-F238E27FC236}">
                <a16:creationId xmlns:a16="http://schemas.microsoft.com/office/drawing/2014/main" id="{C89DB955-9A76-CDC4-AABE-84D6FA4247E5}"/>
              </a:ext>
            </a:extLst>
          </p:cNvPr>
          <p:cNvSpPr>
            <a:spLocks noGrp="1"/>
          </p:cNvSpPr>
          <p:nvPr>
            <p:ph idx="1"/>
          </p:nvPr>
        </p:nvSpPr>
        <p:spPr>
          <a:xfrm>
            <a:off x="543319" y="1720547"/>
            <a:ext cx="10691265" cy="3739896"/>
          </a:xfrm>
        </p:spPr>
        <p:txBody>
          <a:bodyPr/>
          <a:lstStyle/>
          <a:p>
            <a:r>
              <a:rPr lang="en-US" dirty="0"/>
              <a:t>The track angle is given in </a:t>
            </a:r>
            <a:r>
              <a:rPr lang="en-GB" dirty="0"/>
              <a:t>Decimal degrees</a:t>
            </a:r>
          </a:p>
          <a:p>
            <a:r>
              <a:rPr lang="fr-FR" dirty="0"/>
              <a:t>Les angles ne font pas de bonnes entrées de modèle : 360° et 0° doivent être proches l'un de l'autre et s'enrouler en douceur.</a:t>
            </a:r>
          </a:p>
        </p:txBody>
      </p:sp>
      <p:pic>
        <p:nvPicPr>
          <p:cNvPr id="5" name="Picture 4">
            <a:extLst>
              <a:ext uri="{FF2B5EF4-FFF2-40B4-BE49-F238E27FC236}">
                <a16:creationId xmlns:a16="http://schemas.microsoft.com/office/drawing/2014/main" id="{DBF8192E-312B-1EB0-5A89-7BDD4A79D4EE}"/>
              </a:ext>
            </a:extLst>
          </p:cNvPr>
          <p:cNvPicPr>
            <a:picLocks noChangeAspect="1"/>
          </p:cNvPicPr>
          <p:nvPr/>
        </p:nvPicPr>
        <p:blipFill>
          <a:blip r:embed="rId2"/>
          <a:stretch>
            <a:fillRect/>
          </a:stretch>
        </p:blipFill>
        <p:spPr>
          <a:xfrm>
            <a:off x="5091892" y="2593403"/>
            <a:ext cx="6631810" cy="4264597"/>
          </a:xfrm>
          <a:prstGeom prst="rect">
            <a:avLst/>
          </a:prstGeom>
        </p:spPr>
      </p:pic>
    </p:spTree>
    <p:extLst>
      <p:ext uri="{BB962C8B-B14F-4D97-AF65-F5344CB8AC3E}">
        <p14:creationId xmlns:p14="http://schemas.microsoft.com/office/powerpoint/2010/main" val="3702338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FA15A-6650-F7D2-1BE7-F08D367E29D8}"/>
              </a:ext>
            </a:extLst>
          </p:cNvPr>
          <p:cNvSpPr>
            <a:spLocks noGrp="1"/>
          </p:cNvSpPr>
          <p:nvPr>
            <p:ph type="title"/>
          </p:nvPr>
        </p:nvSpPr>
        <p:spPr/>
        <p:txBody>
          <a:bodyPr>
            <a:normAutofit fontScale="90000"/>
          </a:bodyPr>
          <a:lstStyle/>
          <a:p>
            <a:r>
              <a:rPr lang="en-US" dirty="0"/>
              <a:t>Feature engineering of aircraft track angles</a:t>
            </a:r>
          </a:p>
        </p:txBody>
      </p:sp>
      <p:sp>
        <p:nvSpPr>
          <p:cNvPr id="3" name="Content Placeholder 2">
            <a:extLst>
              <a:ext uri="{FF2B5EF4-FFF2-40B4-BE49-F238E27FC236}">
                <a16:creationId xmlns:a16="http://schemas.microsoft.com/office/drawing/2014/main" id="{24C6F55B-6D0F-4FCF-0519-42262E1553C0}"/>
              </a:ext>
            </a:extLst>
          </p:cNvPr>
          <p:cNvSpPr>
            <a:spLocks noGrp="1"/>
          </p:cNvSpPr>
          <p:nvPr>
            <p:ph idx="1"/>
          </p:nvPr>
        </p:nvSpPr>
        <p:spPr/>
        <p:txBody>
          <a:bodyPr/>
          <a:lstStyle/>
          <a:p>
            <a:r>
              <a:rPr lang="fr-FR" dirty="0"/>
              <a:t>Mais la donnée « </a:t>
            </a:r>
            <a:r>
              <a:rPr lang="fr-FR" dirty="0" err="1"/>
              <a:t>aircraft</a:t>
            </a:r>
            <a:r>
              <a:rPr lang="fr-FR" dirty="0"/>
              <a:t> </a:t>
            </a:r>
            <a:r>
              <a:rPr lang="fr-FR" dirty="0" err="1"/>
              <a:t>track</a:t>
            </a:r>
            <a:r>
              <a:rPr lang="fr-FR" dirty="0"/>
              <a:t> angle » sera plus facile à interpréter pour le modèle si vous convertissez les colonnes de direction et de vitesse de l’avion en un </a:t>
            </a:r>
            <a:r>
              <a:rPr lang="fr-FR" b="1" dirty="0"/>
              <a:t>vecteur</a:t>
            </a:r>
            <a:r>
              <a:rPr lang="fr-FR" dirty="0"/>
              <a:t> vitesse </a:t>
            </a:r>
            <a:endParaRPr lang="en-US" dirty="0"/>
          </a:p>
          <a:p>
            <a:endParaRPr lang="en-US" dirty="0"/>
          </a:p>
        </p:txBody>
      </p:sp>
      <p:sp>
        <p:nvSpPr>
          <p:cNvPr id="4" name="TextBox 3">
            <a:extLst>
              <a:ext uri="{FF2B5EF4-FFF2-40B4-BE49-F238E27FC236}">
                <a16:creationId xmlns:a16="http://schemas.microsoft.com/office/drawing/2014/main" id="{4B71E642-F6B4-DFCF-3520-5F95E4C18C92}"/>
              </a:ext>
            </a:extLst>
          </p:cNvPr>
          <p:cNvSpPr txBox="1"/>
          <p:nvPr/>
        </p:nvSpPr>
        <p:spPr>
          <a:xfrm>
            <a:off x="1838632" y="3254477"/>
            <a:ext cx="7369407" cy="2585323"/>
          </a:xfrm>
          <a:prstGeom prst="rect">
            <a:avLst/>
          </a:prstGeom>
          <a:noFill/>
        </p:spPr>
        <p:txBody>
          <a:bodyPr wrap="square" rtlCol="0">
            <a:spAutoFit/>
          </a:bodyPr>
          <a:lstStyle/>
          <a:p>
            <a:r>
              <a:rPr lang="en-GB" i="1" dirty="0"/>
              <a:t> import </a:t>
            </a:r>
            <a:r>
              <a:rPr lang="en-GB" i="1" dirty="0" err="1"/>
              <a:t>numpy</a:t>
            </a:r>
            <a:r>
              <a:rPr lang="en-GB" i="1" dirty="0"/>
              <a:t> as np</a:t>
            </a:r>
          </a:p>
          <a:p>
            <a:r>
              <a:rPr lang="en-GB" i="1" dirty="0"/>
              <a:t>''' convert track angles from degrees to </a:t>
            </a:r>
            <a:r>
              <a:rPr lang="en-GB" i="1" u="sng" dirty="0"/>
              <a:t>radians</a:t>
            </a:r>
            <a:r>
              <a:rPr lang="en-GB" i="1" dirty="0"/>
              <a:t> '''</a:t>
            </a:r>
            <a:endParaRPr lang="en-GB" dirty="0"/>
          </a:p>
          <a:p>
            <a:r>
              <a:rPr lang="en-GB" dirty="0" err="1"/>
              <a:t>track_radians</a:t>
            </a:r>
            <a:r>
              <a:rPr lang="en-GB" dirty="0"/>
              <a:t> = </a:t>
            </a:r>
            <a:r>
              <a:rPr lang="en-GB" dirty="0" err="1"/>
              <a:t>df.pop</a:t>
            </a:r>
            <a:r>
              <a:rPr lang="en-GB" dirty="0"/>
              <a:t>(</a:t>
            </a:r>
            <a:r>
              <a:rPr lang="en-GB" i="1" dirty="0"/>
              <a:t>'track'</a:t>
            </a:r>
            <a:r>
              <a:rPr lang="en-GB" dirty="0"/>
              <a:t>)* </a:t>
            </a:r>
            <a:r>
              <a:rPr lang="en-GB" dirty="0" err="1"/>
              <a:t>np.pi</a:t>
            </a:r>
            <a:r>
              <a:rPr lang="en-GB" dirty="0"/>
              <a:t> / 180</a:t>
            </a:r>
          </a:p>
          <a:p>
            <a:r>
              <a:rPr lang="en-GB" dirty="0" err="1"/>
              <a:t>groundSpeedMax</a:t>
            </a:r>
            <a:r>
              <a:rPr lang="en-GB" dirty="0"/>
              <a:t> = </a:t>
            </a:r>
            <a:r>
              <a:rPr lang="en-GB" dirty="0" err="1"/>
              <a:t>df</a:t>
            </a:r>
            <a:r>
              <a:rPr lang="en-GB" dirty="0"/>
              <a:t>[</a:t>
            </a:r>
            <a:r>
              <a:rPr lang="en-GB" i="1" dirty="0"/>
              <a:t>'</a:t>
            </a:r>
            <a:r>
              <a:rPr lang="en-GB" i="1" u="sng" dirty="0"/>
              <a:t>groundspeed</a:t>
            </a:r>
            <a:r>
              <a:rPr lang="en-GB" i="1" dirty="0"/>
              <a:t>'</a:t>
            </a:r>
            <a:r>
              <a:rPr lang="en-GB" dirty="0"/>
              <a:t>].max()</a:t>
            </a:r>
          </a:p>
          <a:p>
            <a:r>
              <a:rPr lang="en-GB" dirty="0" err="1"/>
              <a:t>groundSpeed</a:t>
            </a:r>
            <a:r>
              <a:rPr lang="en-GB" dirty="0"/>
              <a:t> = </a:t>
            </a:r>
            <a:r>
              <a:rPr lang="en-GB" dirty="0" err="1"/>
              <a:t>df.pop</a:t>
            </a:r>
            <a:r>
              <a:rPr lang="en-GB" dirty="0"/>
              <a:t>(</a:t>
            </a:r>
            <a:r>
              <a:rPr lang="en-GB" i="1" dirty="0"/>
              <a:t>'</a:t>
            </a:r>
            <a:r>
              <a:rPr lang="en-GB" i="1" u="sng" dirty="0"/>
              <a:t>groundspeed</a:t>
            </a:r>
            <a:r>
              <a:rPr lang="en-GB" i="1" dirty="0"/>
              <a:t>'</a:t>
            </a:r>
            <a:r>
              <a:rPr lang="en-GB" dirty="0"/>
              <a:t>)</a:t>
            </a:r>
          </a:p>
          <a:p>
            <a:r>
              <a:rPr lang="en-GB" dirty="0"/>
              <a:t># Calculate the aircraft speed x and y components.</a:t>
            </a:r>
          </a:p>
          <a:p>
            <a:r>
              <a:rPr lang="en-GB" dirty="0" err="1"/>
              <a:t>df</a:t>
            </a:r>
            <a:r>
              <a:rPr lang="en-GB" dirty="0"/>
              <a:t>[</a:t>
            </a:r>
            <a:r>
              <a:rPr lang="en-GB" i="1" dirty="0"/>
              <a:t>'</a:t>
            </a:r>
            <a:r>
              <a:rPr lang="en-GB" i="1" dirty="0" err="1"/>
              <a:t>groundspeed_x</a:t>
            </a:r>
            <a:r>
              <a:rPr lang="en-GB" i="1" dirty="0"/>
              <a:t>'</a:t>
            </a:r>
            <a:r>
              <a:rPr lang="en-GB" dirty="0"/>
              <a:t>] = </a:t>
            </a:r>
            <a:r>
              <a:rPr lang="en-GB" dirty="0" err="1"/>
              <a:t>groundSpeed</a:t>
            </a:r>
            <a:r>
              <a:rPr lang="en-GB" dirty="0"/>
              <a:t> * </a:t>
            </a:r>
            <a:r>
              <a:rPr lang="en-GB" dirty="0" err="1"/>
              <a:t>np.cos</a:t>
            </a:r>
            <a:r>
              <a:rPr lang="en-GB" dirty="0"/>
              <a:t>(</a:t>
            </a:r>
            <a:r>
              <a:rPr lang="en-GB" dirty="0" err="1"/>
              <a:t>track_radians</a:t>
            </a:r>
            <a:r>
              <a:rPr lang="en-GB" dirty="0"/>
              <a:t>)</a:t>
            </a:r>
          </a:p>
          <a:p>
            <a:r>
              <a:rPr lang="en-GB" dirty="0" err="1"/>
              <a:t>df</a:t>
            </a:r>
            <a:r>
              <a:rPr lang="en-GB" dirty="0"/>
              <a:t>[</a:t>
            </a:r>
            <a:r>
              <a:rPr lang="en-GB" i="1" dirty="0"/>
              <a:t>'</a:t>
            </a:r>
            <a:r>
              <a:rPr lang="en-GB" i="1" dirty="0" err="1"/>
              <a:t>groundspeed_y</a:t>
            </a:r>
            <a:r>
              <a:rPr lang="en-GB" i="1" dirty="0"/>
              <a:t>'</a:t>
            </a:r>
            <a:r>
              <a:rPr lang="en-GB" dirty="0"/>
              <a:t>] = </a:t>
            </a:r>
            <a:r>
              <a:rPr lang="en-GB" dirty="0" err="1"/>
              <a:t>groundSpeed</a:t>
            </a:r>
            <a:r>
              <a:rPr lang="en-GB" dirty="0"/>
              <a:t> * </a:t>
            </a:r>
            <a:r>
              <a:rPr lang="en-GB" dirty="0" err="1"/>
              <a:t>np.sin</a:t>
            </a:r>
            <a:r>
              <a:rPr lang="en-GB" dirty="0"/>
              <a:t>(</a:t>
            </a:r>
            <a:r>
              <a:rPr lang="en-GB" dirty="0" err="1"/>
              <a:t>track_radians</a:t>
            </a:r>
            <a:r>
              <a:rPr lang="en-GB" dirty="0"/>
              <a:t>)</a:t>
            </a:r>
          </a:p>
          <a:p>
            <a:endParaRPr lang="en-US" dirty="0"/>
          </a:p>
        </p:txBody>
      </p:sp>
    </p:spTree>
    <p:extLst>
      <p:ext uri="{BB962C8B-B14F-4D97-AF65-F5344CB8AC3E}">
        <p14:creationId xmlns:p14="http://schemas.microsoft.com/office/powerpoint/2010/main" val="2312517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339EC-15C2-3CF5-2E33-8530B8FE94D2}"/>
            </a:ext>
          </a:extLst>
        </p:cNvPr>
        <p:cNvGrpSpPr/>
        <p:nvPr/>
      </p:nvGrpSpPr>
      <p:grpSpPr>
        <a:xfrm>
          <a:off x="0" y="0"/>
          <a:ext cx="0" cy="0"/>
          <a:chOff x="0" y="0"/>
          <a:chExt cx="0" cy="0"/>
        </a:xfrm>
      </p:grpSpPr>
      <p:pic>
        <p:nvPicPr>
          <p:cNvPr id="9" name="Picture 8" descr="A graph with blue and orange lines&#10;&#10;AI-generated content may be incorrect.">
            <a:extLst>
              <a:ext uri="{FF2B5EF4-FFF2-40B4-BE49-F238E27FC236}">
                <a16:creationId xmlns:a16="http://schemas.microsoft.com/office/drawing/2014/main" id="{A4644507-B691-DA8D-F0BE-F18B322752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431" y="752296"/>
            <a:ext cx="7541094" cy="5655820"/>
          </a:xfrm>
          <a:prstGeom prst="rect">
            <a:avLst/>
          </a:prstGeom>
        </p:spPr>
      </p:pic>
      <p:sp>
        <p:nvSpPr>
          <p:cNvPr id="2" name="Title 1">
            <a:extLst>
              <a:ext uri="{FF2B5EF4-FFF2-40B4-BE49-F238E27FC236}">
                <a16:creationId xmlns:a16="http://schemas.microsoft.com/office/drawing/2014/main" id="{67EA65C0-12C0-917F-FC80-0B8C4A3E361C}"/>
              </a:ext>
            </a:extLst>
          </p:cNvPr>
          <p:cNvSpPr>
            <a:spLocks noGrp="1"/>
          </p:cNvSpPr>
          <p:nvPr>
            <p:ph type="title"/>
          </p:nvPr>
        </p:nvSpPr>
        <p:spPr>
          <a:xfrm>
            <a:off x="655665" y="119921"/>
            <a:ext cx="10691265" cy="1307592"/>
          </a:xfrm>
        </p:spPr>
        <p:txBody>
          <a:bodyPr/>
          <a:lstStyle/>
          <a:p>
            <a:r>
              <a:rPr lang="fr-FR" dirty="0"/>
              <a:t>Training versus Validation </a:t>
            </a:r>
            <a:r>
              <a:rPr lang="fr-FR" dirty="0" err="1"/>
              <a:t>loss</a:t>
            </a:r>
            <a:endParaRPr lang="en-GB" dirty="0"/>
          </a:p>
        </p:txBody>
      </p:sp>
      <p:pic>
        <p:nvPicPr>
          <p:cNvPr id="6" name="Picture 5">
            <a:extLst>
              <a:ext uri="{FF2B5EF4-FFF2-40B4-BE49-F238E27FC236}">
                <a16:creationId xmlns:a16="http://schemas.microsoft.com/office/drawing/2014/main" id="{4A1BDECC-10D4-3F38-21D9-28F1EF118848}"/>
              </a:ext>
            </a:extLst>
          </p:cNvPr>
          <p:cNvPicPr>
            <a:picLocks noChangeAspect="1"/>
          </p:cNvPicPr>
          <p:nvPr/>
        </p:nvPicPr>
        <p:blipFill>
          <a:blip r:embed="rId3"/>
          <a:stretch>
            <a:fillRect/>
          </a:stretch>
        </p:blipFill>
        <p:spPr>
          <a:xfrm>
            <a:off x="8560155" y="1557896"/>
            <a:ext cx="3052722" cy="1072877"/>
          </a:xfrm>
          <a:prstGeom prst="rect">
            <a:avLst/>
          </a:prstGeom>
        </p:spPr>
      </p:pic>
      <p:sp>
        <p:nvSpPr>
          <p:cNvPr id="7" name="TextBox 6">
            <a:extLst>
              <a:ext uri="{FF2B5EF4-FFF2-40B4-BE49-F238E27FC236}">
                <a16:creationId xmlns:a16="http://schemas.microsoft.com/office/drawing/2014/main" id="{D329D970-70AD-0913-C4CF-76102009EF3B}"/>
              </a:ext>
            </a:extLst>
          </p:cNvPr>
          <p:cNvSpPr txBox="1"/>
          <p:nvPr/>
        </p:nvSpPr>
        <p:spPr>
          <a:xfrm>
            <a:off x="9114020" y="344501"/>
            <a:ext cx="1733167" cy="369332"/>
          </a:xfrm>
          <a:prstGeom prst="rect">
            <a:avLst/>
          </a:prstGeom>
          <a:noFill/>
        </p:spPr>
        <p:txBody>
          <a:bodyPr wrap="none" rtlCol="0">
            <a:spAutoFit/>
          </a:bodyPr>
          <a:lstStyle/>
          <a:p>
            <a:r>
              <a:rPr lang="fr-FR" dirty="0"/>
              <a:t>16 </a:t>
            </a:r>
            <a:r>
              <a:rPr lang="fr-FR" dirty="0" err="1"/>
              <a:t>october</a:t>
            </a:r>
            <a:r>
              <a:rPr lang="fr-FR" dirty="0"/>
              <a:t> 2025</a:t>
            </a:r>
            <a:endParaRPr lang="en-GB" dirty="0"/>
          </a:p>
        </p:txBody>
      </p:sp>
      <p:sp>
        <p:nvSpPr>
          <p:cNvPr id="10" name="Rectangle: Bevelled 9">
            <a:extLst>
              <a:ext uri="{FF2B5EF4-FFF2-40B4-BE49-F238E27FC236}">
                <a16:creationId xmlns:a16="http://schemas.microsoft.com/office/drawing/2014/main" id="{F8188F3A-FBA7-8059-5442-7E0FE24C6DD5}"/>
              </a:ext>
            </a:extLst>
          </p:cNvPr>
          <p:cNvSpPr/>
          <p:nvPr/>
        </p:nvSpPr>
        <p:spPr>
          <a:xfrm>
            <a:off x="7530776" y="3504786"/>
            <a:ext cx="3916017" cy="664368"/>
          </a:xfrm>
          <a:prstGeom prst="bevel">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Y = fuel flow kg per seconds</a:t>
            </a:r>
            <a:endParaRPr lang="en-GB" dirty="0"/>
          </a:p>
        </p:txBody>
      </p:sp>
      <p:sp>
        <p:nvSpPr>
          <p:cNvPr id="11" name="TextBox 10">
            <a:extLst>
              <a:ext uri="{FF2B5EF4-FFF2-40B4-BE49-F238E27FC236}">
                <a16:creationId xmlns:a16="http://schemas.microsoft.com/office/drawing/2014/main" id="{7B2D375F-E28C-46DC-6990-4889D94D52A8}"/>
              </a:ext>
            </a:extLst>
          </p:cNvPr>
          <p:cNvSpPr txBox="1"/>
          <p:nvPr/>
        </p:nvSpPr>
        <p:spPr>
          <a:xfrm>
            <a:off x="7755627" y="6038784"/>
            <a:ext cx="3916018" cy="36933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err="1"/>
              <a:t>Make</a:t>
            </a:r>
            <a:r>
              <a:rPr lang="fr-FR" dirty="0"/>
              <a:t> the </a:t>
            </a:r>
            <a:r>
              <a:rPr lang="fr-FR" dirty="0" err="1"/>
              <a:t>val_loss</a:t>
            </a:r>
            <a:r>
              <a:rPr lang="fr-FR" dirty="0"/>
              <a:t> as </a:t>
            </a:r>
            <a:r>
              <a:rPr lang="fr-FR" dirty="0" err="1"/>
              <a:t>low</a:t>
            </a:r>
            <a:r>
              <a:rPr lang="fr-FR" dirty="0"/>
              <a:t> as possible</a:t>
            </a:r>
            <a:endParaRPr lang="en-GB" dirty="0"/>
          </a:p>
        </p:txBody>
      </p:sp>
      <p:sp>
        <p:nvSpPr>
          <p:cNvPr id="12" name="TextBox 11">
            <a:extLst>
              <a:ext uri="{FF2B5EF4-FFF2-40B4-BE49-F238E27FC236}">
                <a16:creationId xmlns:a16="http://schemas.microsoft.com/office/drawing/2014/main" id="{B8EF2C33-41EC-BA3A-E268-906856B49C98}"/>
              </a:ext>
            </a:extLst>
          </p:cNvPr>
          <p:cNvSpPr txBox="1"/>
          <p:nvPr/>
        </p:nvSpPr>
        <p:spPr>
          <a:xfrm>
            <a:off x="8256104" y="4500403"/>
            <a:ext cx="3019416" cy="92333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All train records</a:t>
            </a:r>
          </a:p>
          <a:p>
            <a:r>
              <a:rPr lang="fr-FR" dirty="0"/>
              <a:t>133984 train fuel records</a:t>
            </a:r>
          </a:p>
          <a:p>
            <a:r>
              <a:rPr lang="en-GB" dirty="0"/>
              <a:t>11085 train flight files</a:t>
            </a:r>
          </a:p>
        </p:txBody>
      </p:sp>
    </p:spTree>
    <p:extLst>
      <p:ext uri="{BB962C8B-B14F-4D97-AF65-F5344CB8AC3E}">
        <p14:creationId xmlns:p14="http://schemas.microsoft.com/office/powerpoint/2010/main" val="3258285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D6950-4A03-02BB-687D-56A2622B0B21}"/>
              </a:ext>
            </a:extLst>
          </p:cNvPr>
          <p:cNvSpPr>
            <a:spLocks noGrp="1"/>
          </p:cNvSpPr>
          <p:nvPr>
            <p:ph type="title"/>
          </p:nvPr>
        </p:nvSpPr>
        <p:spPr/>
        <p:txBody>
          <a:bodyPr>
            <a:normAutofit/>
          </a:bodyPr>
          <a:lstStyle/>
          <a:p>
            <a:r>
              <a:rPr lang="fr-FR" dirty="0"/>
              <a:t>Do not</a:t>
            </a:r>
            <a:endParaRPr lang="en-GB" dirty="0"/>
          </a:p>
        </p:txBody>
      </p:sp>
      <p:sp>
        <p:nvSpPr>
          <p:cNvPr id="3" name="Title 1">
            <a:extLst>
              <a:ext uri="{FF2B5EF4-FFF2-40B4-BE49-F238E27FC236}">
                <a16:creationId xmlns:a16="http://schemas.microsoft.com/office/drawing/2014/main" id="{B30C2A9C-2213-CFE5-52EC-BD83464A759F}"/>
              </a:ext>
            </a:extLst>
          </p:cNvPr>
          <p:cNvSpPr txBox="1">
            <a:spLocks/>
          </p:cNvSpPr>
          <p:nvPr/>
        </p:nvSpPr>
        <p:spPr>
          <a:xfrm>
            <a:off x="638721" y="2395537"/>
            <a:ext cx="10691265" cy="1307592"/>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n-GB" dirty="0"/>
              <a:t>You </a:t>
            </a:r>
            <a:r>
              <a:rPr lang="en-GB" b="1" dirty="0"/>
              <a:t>do not</a:t>
            </a:r>
            <a:r>
              <a:rPr lang="en-GB" dirty="0"/>
              <a:t> need to scale the Y of train data as the algorithm or model will set the parameter values to get least Cost (error), that is k {Y (output)-Y (original)} anyway.</a:t>
            </a:r>
          </a:p>
        </p:txBody>
      </p:sp>
    </p:spTree>
    <p:extLst>
      <p:ext uri="{BB962C8B-B14F-4D97-AF65-F5344CB8AC3E}">
        <p14:creationId xmlns:p14="http://schemas.microsoft.com/office/powerpoint/2010/main" val="4211092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FBA5F-B378-8BDC-8A71-DCC0EE4A6592}"/>
              </a:ext>
            </a:extLst>
          </p:cNvPr>
          <p:cNvSpPr>
            <a:spLocks noGrp="1"/>
          </p:cNvSpPr>
          <p:nvPr>
            <p:ph type="title"/>
          </p:nvPr>
        </p:nvSpPr>
        <p:spPr/>
        <p:txBody>
          <a:bodyPr/>
          <a:lstStyle/>
          <a:p>
            <a:r>
              <a:rPr lang="fr-FR" dirty="0" err="1"/>
              <a:t>steps</a:t>
            </a:r>
            <a:endParaRPr lang="en-GB" dirty="0"/>
          </a:p>
        </p:txBody>
      </p:sp>
      <p:graphicFrame>
        <p:nvGraphicFramePr>
          <p:cNvPr id="3" name="Diagram 2">
            <a:extLst>
              <a:ext uri="{FF2B5EF4-FFF2-40B4-BE49-F238E27FC236}">
                <a16:creationId xmlns:a16="http://schemas.microsoft.com/office/drawing/2014/main" id="{C6DEC4B2-035B-FCF7-AEA3-67F665400264}"/>
              </a:ext>
            </a:extLst>
          </p:cNvPr>
          <p:cNvGraphicFramePr/>
          <p:nvPr>
            <p:extLst>
              <p:ext uri="{D42A27DB-BD31-4B8C-83A1-F6EECF244321}">
                <p14:modId xmlns:p14="http://schemas.microsoft.com/office/powerpoint/2010/main" val="25572005"/>
              </p:ext>
            </p:extLst>
          </p:nvPr>
        </p:nvGraphicFramePr>
        <p:xfrm>
          <a:off x="636104" y="719666"/>
          <a:ext cx="10755796"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A252F40C-AB3D-C08B-678A-A9F5D7F499A1}"/>
              </a:ext>
            </a:extLst>
          </p:cNvPr>
          <p:cNvSpPr txBox="1"/>
          <p:nvPr/>
        </p:nvSpPr>
        <p:spPr>
          <a:xfrm>
            <a:off x="4303643" y="4862094"/>
            <a:ext cx="3584713" cy="1077218"/>
          </a:xfrm>
          <a:prstGeom prst="rect">
            <a:avLst/>
          </a:prstGeom>
          <a:noFill/>
        </p:spPr>
        <p:txBody>
          <a:bodyPr wrap="square" rtlCol="0">
            <a:spAutoFit/>
          </a:bodyPr>
          <a:lstStyle/>
          <a:p>
            <a:r>
              <a:rPr lang="fr-FR" sz="1600" dirty="0"/>
              <a:t>Use fuel start end relative </a:t>
            </a:r>
            <a:r>
              <a:rPr lang="fr-FR" sz="1600" dirty="0" err="1"/>
              <a:t>stamp</a:t>
            </a:r>
            <a:r>
              <a:rPr lang="fr-FR" sz="1600" dirty="0"/>
              <a:t> to </a:t>
            </a:r>
            <a:r>
              <a:rPr lang="fr-FR" sz="1600" dirty="0" err="1"/>
              <a:t>link</a:t>
            </a:r>
            <a:r>
              <a:rPr lang="fr-FR" sz="1600" dirty="0"/>
              <a:t> </a:t>
            </a:r>
            <a:r>
              <a:rPr lang="fr-FR" sz="1600" dirty="0" err="1"/>
              <a:t>with</a:t>
            </a:r>
            <a:r>
              <a:rPr lang="fr-FR" sz="1600" dirty="0"/>
              <a:t> flight record timestamp</a:t>
            </a:r>
          </a:p>
          <a:p>
            <a:r>
              <a:rPr lang="fr-FR" sz="1600" dirty="0"/>
              <a:t>Timestamp </a:t>
            </a:r>
            <a:r>
              <a:rPr lang="fr-FR" sz="1600" dirty="0" err="1"/>
              <a:t>inside</a:t>
            </a:r>
            <a:r>
              <a:rPr lang="fr-FR" sz="1600" dirty="0"/>
              <a:t> start – end of fuel record</a:t>
            </a:r>
            <a:endParaRPr lang="en-GB" sz="1600" dirty="0"/>
          </a:p>
        </p:txBody>
      </p:sp>
      <p:sp>
        <p:nvSpPr>
          <p:cNvPr id="5" name="TextBox 4">
            <a:extLst>
              <a:ext uri="{FF2B5EF4-FFF2-40B4-BE49-F238E27FC236}">
                <a16:creationId xmlns:a16="http://schemas.microsoft.com/office/drawing/2014/main" id="{A5B69DEF-CE99-03F8-3A07-4AD3ADB83FA9}"/>
              </a:ext>
            </a:extLst>
          </p:cNvPr>
          <p:cNvSpPr txBox="1"/>
          <p:nvPr/>
        </p:nvSpPr>
        <p:spPr>
          <a:xfrm>
            <a:off x="636932" y="1721104"/>
            <a:ext cx="3584713" cy="338554"/>
          </a:xfrm>
          <a:prstGeom prst="rect">
            <a:avLst/>
          </a:prstGeom>
          <a:noFill/>
        </p:spPr>
        <p:txBody>
          <a:bodyPr wrap="square" rtlCol="0">
            <a:spAutoFit/>
          </a:bodyPr>
          <a:lstStyle/>
          <a:p>
            <a:r>
              <a:rPr lang="fr-FR" sz="1600" dirty="0" err="1"/>
              <a:t>Compute</a:t>
            </a:r>
            <a:r>
              <a:rPr lang="fr-FR" sz="1600" dirty="0"/>
              <a:t> fuel flow kg per seconds</a:t>
            </a:r>
            <a:endParaRPr lang="en-GB" sz="1600" dirty="0"/>
          </a:p>
        </p:txBody>
      </p:sp>
      <p:sp>
        <p:nvSpPr>
          <p:cNvPr id="6" name="TextBox 5">
            <a:extLst>
              <a:ext uri="{FF2B5EF4-FFF2-40B4-BE49-F238E27FC236}">
                <a16:creationId xmlns:a16="http://schemas.microsoft.com/office/drawing/2014/main" id="{B46D45C7-56A4-BD95-257F-E610125BBC0D}"/>
              </a:ext>
            </a:extLst>
          </p:cNvPr>
          <p:cNvSpPr txBox="1"/>
          <p:nvPr/>
        </p:nvSpPr>
        <p:spPr>
          <a:xfrm>
            <a:off x="800100" y="4825538"/>
            <a:ext cx="3584713" cy="584775"/>
          </a:xfrm>
          <a:prstGeom prst="rect">
            <a:avLst/>
          </a:prstGeom>
          <a:noFill/>
        </p:spPr>
        <p:txBody>
          <a:bodyPr wrap="square" rtlCol="0">
            <a:spAutoFit/>
          </a:bodyPr>
          <a:lstStyle/>
          <a:p>
            <a:r>
              <a:rPr lang="fr-FR" sz="1600" dirty="0" err="1"/>
              <a:t>Compute</a:t>
            </a:r>
            <a:r>
              <a:rPr lang="fr-FR" sz="1600" dirty="0"/>
              <a:t> flight distance (Nm)</a:t>
            </a:r>
          </a:p>
          <a:p>
            <a:r>
              <a:rPr lang="fr-FR" sz="1600" dirty="0" err="1"/>
              <a:t>Compute</a:t>
            </a:r>
            <a:r>
              <a:rPr lang="fr-FR" sz="1600" dirty="0"/>
              <a:t> flight duration (seconds)</a:t>
            </a:r>
            <a:endParaRPr lang="en-GB" sz="1600" dirty="0"/>
          </a:p>
        </p:txBody>
      </p:sp>
      <p:sp>
        <p:nvSpPr>
          <p:cNvPr id="7" name="TextBox 6">
            <a:extLst>
              <a:ext uri="{FF2B5EF4-FFF2-40B4-BE49-F238E27FC236}">
                <a16:creationId xmlns:a16="http://schemas.microsoft.com/office/drawing/2014/main" id="{DD0BF4DF-99DF-73B8-CACE-62CF391DF37F}"/>
              </a:ext>
            </a:extLst>
          </p:cNvPr>
          <p:cNvSpPr txBox="1"/>
          <p:nvPr/>
        </p:nvSpPr>
        <p:spPr>
          <a:xfrm>
            <a:off x="6178000" y="1721104"/>
            <a:ext cx="3584713" cy="584775"/>
          </a:xfrm>
          <a:prstGeom prst="rect">
            <a:avLst/>
          </a:prstGeom>
          <a:noFill/>
        </p:spPr>
        <p:txBody>
          <a:bodyPr wrap="square" rtlCol="0">
            <a:spAutoFit/>
          </a:bodyPr>
          <a:lstStyle/>
          <a:p>
            <a:r>
              <a:rPr lang="fr-FR" sz="1600" dirty="0"/>
              <a:t>Encode </a:t>
            </a:r>
            <a:r>
              <a:rPr lang="fr-FR" sz="1600" dirty="0" err="1"/>
              <a:t>aircraft_icao_code</a:t>
            </a:r>
            <a:endParaRPr lang="fr-FR" sz="1600" dirty="0"/>
          </a:p>
          <a:p>
            <a:r>
              <a:rPr lang="fr-FR" sz="1600" dirty="0" err="1"/>
              <a:t>Scale</a:t>
            </a:r>
            <a:r>
              <a:rPr lang="fr-FR" sz="1600" dirty="0"/>
              <a:t> all </a:t>
            </a:r>
            <a:r>
              <a:rPr lang="fr-FR" sz="1600" dirty="0" err="1"/>
              <a:t>columns</a:t>
            </a:r>
            <a:endParaRPr lang="en-GB" sz="1600" dirty="0"/>
          </a:p>
        </p:txBody>
      </p:sp>
    </p:spTree>
    <p:extLst>
      <p:ext uri="{BB962C8B-B14F-4D97-AF65-F5344CB8AC3E}">
        <p14:creationId xmlns:p14="http://schemas.microsoft.com/office/powerpoint/2010/main" val="939318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C3AC67-C1E7-3BF2-A9BA-2C27E8ED3447}"/>
              </a:ext>
            </a:extLst>
          </p:cNvPr>
          <p:cNvSpPr>
            <a:spLocks noGrp="1"/>
          </p:cNvSpPr>
          <p:nvPr>
            <p:ph type="ctrTitle"/>
          </p:nvPr>
        </p:nvSpPr>
        <p:spPr>
          <a:xfrm>
            <a:off x="703400" y="899025"/>
            <a:ext cx="4917754" cy="3792926"/>
          </a:xfrm>
        </p:spPr>
        <p:txBody>
          <a:bodyPr>
            <a:normAutofit/>
          </a:bodyPr>
          <a:lstStyle/>
          <a:p>
            <a:pPr>
              <a:lnSpc>
                <a:spcPct val="90000"/>
              </a:lnSpc>
            </a:pPr>
            <a:r>
              <a:rPr lang="en-GB" sz="4100"/>
              <a:t>Leveraging TensorFlow for Regression Problems: Techniques and Applications</a:t>
            </a:r>
          </a:p>
        </p:txBody>
      </p:sp>
      <p:sp>
        <p:nvSpPr>
          <p:cNvPr id="3" name="Subtitle 2">
            <a:extLst>
              <a:ext uri="{FF2B5EF4-FFF2-40B4-BE49-F238E27FC236}">
                <a16:creationId xmlns:a16="http://schemas.microsoft.com/office/drawing/2014/main" id="{4665BDF1-F4F8-0A6F-D027-32D0D702818C}"/>
              </a:ext>
            </a:extLst>
          </p:cNvPr>
          <p:cNvSpPr>
            <a:spLocks noGrp="1"/>
          </p:cNvSpPr>
          <p:nvPr>
            <p:ph type="subTitle" idx="1"/>
          </p:nvPr>
        </p:nvSpPr>
        <p:spPr>
          <a:xfrm>
            <a:off x="721688" y="4778479"/>
            <a:ext cx="4435882" cy="1101160"/>
          </a:xfrm>
        </p:spPr>
        <p:txBody>
          <a:bodyPr>
            <a:normAutofit/>
          </a:bodyPr>
          <a:lstStyle/>
          <a:p>
            <a:r>
              <a:rPr lang="en-GB"/>
              <a:t>Exploring tools and methods to improve regression modeling</a:t>
            </a: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76813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BF2B36B-4D1C-9E0A-B17B-23D805AECA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76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Internet of Things Concept">
            <a:extLst>
              <a:ext uri="{FF2B5EF4-FFF2-40B4-BE49-F238E27FC236}">
                <a16:creationId xmlns:a16="http://schemas.microsoft.com/office/drawing/2014/main" id="{F6A8D83E-0B73-4D22-BD8B-5A929749EA5A}"/>
              </a:ext>
            </a:extLst>
          </p:cNvPr>
          <p:cNvPicPr>
            <a:picLocks noChangeAspect="1"/>
          </p:cNvPicPr>
          <p:nvPr/>
        </p:nvPicPr>
        <p:blipFill>
          <a:blip r:embed="rId3"/>
          <a:srcRect l="13409" r="21886"/>
          <a:stretch>
            <a:fillRect/>
          </a:stretch>
        </p:blipFill>
        <p:spPr>
          <a:xfrm>
            <a:off x="6217920" y="723901"/>
            <a:ext cx="5244454" cy="5410200"/>
          </a:xfrm>
          <a:prstGeom prst="rect">
            <a:avLst/>
          </a:prstGeom>
        </p:spPr>
      </p:pic>
    </p:spTree>
    <p:extLst>
      <p:ext uri="{BB962C8B-B14F-4D97-AF65-F5344CB8AC3E}">
        <p14:creationId xmlns:p14="http://schemas.microsoft.com/office/powerpoint/2010/main" val="161369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9195B-639A-BF76-B13C-B43027E2E708}"/>
              </a:ext>
            </a:extLst>
          </p:cNvPr>
          <p:cNvSpPr>
            <a:spLocks noGrp="1"/>
          </p:cNvSpPr>
          <p:nvPr>
            <p:ph type="title"/>
          </p:nvPr>
        </p:nvSpPr>
        <p:spPr>
          <a:xfrm>
            <a:off x="704088" y="914401"/>
            <a:ext cx="6766560" cy="1307592"/>
          </a:xfrm>
        </p:spPr>
        <p:txBody>
          <a:bodyPr vert="horz" lIns="91440" tIns="45720" rIns="91440" bIns="45720" rtlCol="0" anchor="t">
            <a:normAutofit/>
          </a:bodyPr>
          <a:lstStyle/>
          <a:p>
            <a:r>
              <a:rPr lang="en-US"/>
              <a:t>Presentation Agenda</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2D10D62-4C4B-7435-0799-15D755BBFB54}"/>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04088" y="2221994"/>
            <a:ext cx="6766560" cy="3739896"/>
          </a:xfrm>
        </p:spPr>
        <p:txBody>
          <a:bodyPr vert="horz" lIns="91440" tIns="45720" rIns="91440" bIns="45720" rtlCol="0">
            <a:normAutofit/>
          </a:bodyPr>
          <a:lstStyle/>
          <a:p>
            <a:r>
              <a:rPr lang="en-US"/>
              <a:t>Introduction to Regression Analysis</a:t>
            </a:r>
          </a:p>
          <a:p>
            <a:r>
              <a:rPr lang="en-US"/>
              <a:t>Overview of TensorFlow and Its Capabilities</a:t>
            </a:r>
          </a:p>
          <a:p>
            <a:r>
              <a:rPr lang="en-US"/>
              <a:t>Implementing Regression Models in TensorFlow</a:t>
            </a:r>
          </a:p>
          <a:p>
            <a:r>
              <a:rPr lang="en-US"/>
              <a:t>Advanced Techniques and Best Practices</a:t>
            </a:r>
          </a:p>
        </p:txBody>
      </p: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Blurred financial stock market data and graph">
            <a:extLst>
              <a:ext uri="{FF2B5EF4-FFF2-40B4-BE49-F238E27FC236}">
                <a16:creationId xmlns:a16="http://schemas.microsoft.com/office/drawing/2014/main" id="{0C04FF66-DABF-4752-887A-58F56CF72F04}"/>
              </a:ext>
            </a:extLst>
          </p:cNvPr>
          <p:cNvPicPr>
            <a:picLocks noGrp="1" noChangeAspect="1"/>
          </p:cNvPicPr>
          <p:nvPr>
            <p:ph sz="half" idx="1"/>
          </p:nvPr>
        </p:nvPicPr>
        <p:blipFill>
          <a:blip r:embed="rId3"/>
          <a:srcRect l="39537" r="20189" b="-1"/>
          <a:stretch>
            <a:fillRect/>
          </a:stretch>
        </p:blipFill>
        <p:spPr>
          <a:xfrm>
            <a:off x="8115300" y="10"/>
            <a:ext cx="4076700" cy="6857990"/>
          </a:xfrm>
          <a:prstGeom prst="rect">
            <a:avLst/>
          </a:prstGeom>
        </p:spPr>
      </p:pic>
    </p:spTree>
    <p:extLst>
      <p:ext uri="{BB962C8B-B14F-4D97-AF65-F5344CB8AC3E}">
        <p14:creationId xmlns:p14="http://schemas.microsoft.com/office/powerpoint/2010/main" val="3293509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A8648119-2905-2E80-2698-EDF572BB6CBC}"/>
              </a:ext>
            </a:extLst>
          </p:cNvPr>
          <p:cNvSpPr>
            <a:spLocks noGrp="1"/>
          </p:cNvSpPr>
          <p:nvPr>
            <p:ph type="ctrTitle"/>
          </p:nvPr>
        </p:nvSpPr>
        <p:spPr>
          <a:xfrm>
            <a:off x="695324" y="1145308"/>
            <a:ext cx="7600263" cy="4860947"/>
          </a:xfrm>
        </p:spPr>
        <p:txBody>
          <a:bodyPr anchor="b">
            <a:normAutofit/>
          </a:bodyPr>
          <a:lstStyle/>
          <a:p>
            <a:r>
              <a:rPr lang="en-GB" sz="7600"/>
              <a:t>Introduction to Regression Analysis</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2300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66D1B-9603-29C3-0893-D088DC5CA243}"/>
              </a:ext>
            </a:extLst>
          </p:cNvPr>
          <p:cNvSpPr>
            <a:spLocks noGrp="1"/>
          </p:cNvSpPr>
          <p:nvPr>
            <p:ph type="title"/>
          </p:nvPr>
        </p:nvSpPr>
        <p:spPr>
          <a:xfrm>
            <a:off x="704088" y="914401"/>
            <a:ext cx="6766560" cy="1307592"/>
          </a:xfrm>
        </p:spPr>
        <p:txBody>
          <a:bodyPr vert="horz" lIns="91440" tIns="45720" rIns="91440" bIns="45720" rtlCol="0" anchor="t">
            <a:normAutofit/>
          </a:bodyPr>
          <a:lstStyle/>
          <a:p>
            <a:pPr>
              <a:lnSpc>
                <a:spcPct val="90000"/>
              </a:lnSpc>
            </a:pPr>
            <a:r>
              <a:rPr lang="en-US"/>
              <a:t>Fundamental concepts of regression</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98BED378-22F8-80B1-EF95-B13B632B390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 y="2221994"/>
            <a:ext cx="6766560" cy="3739896"/>
          </a:xfrm>
        </p:spPr>
        <p:txBody>
          <a:bodyPr>
            <a:normAutofit/>
          </a:bodyPr>
          <a:lstStyle/>
          <a:p>
            <a:pPr marL="0" indent="0">
              <a:spcBef>
                <a:spcPts val="2500"/>
              </a:spcBef>
              <a:buFont typeface="Arial" panose="020B0604020202020204" pitchFamily="34" charset="0"/>
              <a:buNone/>
            </a:pPr>
            <a:r>
              <a:rPr lang="en-GB" sz="1400" b="1"/>
              <a:t>Definition of Regression</a:t>
            </a:r>
          </a:p>
          <a:p>
            <a:pPr marL="0" lvl="1" indent="0">
              <a:buFont typeface="Arial" panose="020B0604020202020204" pitchFamily="34" charset="0"/>
              <a:buNone/>
            </a:pPr>
            <a:r>
              <a:rPr lang="en-GB" sz="1400"/>
              <a:t>Regression estimates relationships between dependent and independent variables to understand their connection.</a:t>
            </a:r>
          </a:p>
          <a:p>
            <a:pPr marL="0" indent="0">
              <a:spcBef>
                <a:spcPts val="2500"/>
              </a:spcBef>
              <a:buFont typeface="Arial" panose="020B0604020202020204" pitchFamily="34" charset="0"/>
              <a:buNone/>
            </a:pPr>
            <a:r>
              <a:rPr lang="en-GB" sz="1400" b="1"/>
              <a:t>Predicting Continuous Outcomes</a:t>
            </a:r>
          </a:p>
          <a:p>
            <a:pPr marL="0" lvl="1" indent="0">
              <a:buFont typeface="Arial" panose="020B0604020202020204" pitchFamily="34" charset="0"/>
              <a:buNone/>
            </a:pPr>
            <a:r>
              <a:rPr lang="en-GB" sz="1400"/>
              <a:t>The goal of regression is to predict continuous variables based on input data from other variables.</a:t>
            </a:r>
          </a:p>
          <a:p>
            <a:pPr marL="0" indent="0">
              <a:spcBef>
                <a:spcPts val="2500"/>
              </a:spcBef>
              <a:buFont typeface="Arial" panose="020B0604020202020204" pitchFamily="34" charset="0"/>
              <a:buNone/>
            </a:pPr>
            <a:r>
              <a:rPr lang="en-GB" sz="1400" b="1"/>
              <a:t>Understanding Variable Influence</a:t>
            </a:r>
          </a:p>
          <a:p>
            <a:pPr marL="0" lvl="1" indent="0">
              <a:buFont typeface="Arial" panose="020B0604020202020204" pitchFamily="34" charset="0"/>
              <a:buNone/>
            </a:pPr>
            <a:r>
              <a:rPr lang="en-GB" sz="1400"/>
              <a:t>Regression helps identify how independent variables influence the dependent variable in a measurable way.</a:t>
            </a:r>
          </a:p>
        </p:txBody>
      </p: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Stock Market, Exchange, Digital Data, Information Screen, Background">
            <a:extLst>
              <a:ext uri="{FF2B5EF4-FFF2-40B4-BE49-F238E27FC236}">
                <a16:creationId xmlns:a16="http://schemas.microsoft.com/office/drawing/2014/main" id="{D0E8F700-5234-4163-B935-7AA3C3A41875}"/>
              </a:ext>
            </a:extLst>
          </p:cNvPr>
          <p:cNvPicPr>
            <a:picLocks noGrp="1" noChangeAspect="1"/>
          </p:cNvPicPr>
          <p:nvPr>
            <p:ph sz="half" idx="1"/>
          </p:nvPr>
        </p:nvPicPr>
        <p:blipFill>
          <a:blip r:embed="rId3"/>
          <a:srcRect l="35242" r="25079" b="-1"/>
          <a:stretch>
            <a:fillRect/>
          </a:stretch>
        </p:blipFill>
        <p:spPr>
          <a:xfrm>
            <a:off x="8115300" y="10"/>
            <a:ext cx="4076700" cy="6857990"/>
          </a:xfrm>
          <a:prstGeom prst="rect">
            <a:avLst/>
          </a:prstGeom>
        </p:spPr>
      </p:pic>
    </p:spTree>
    <p:extLst>
      <p:ext uri="{BB962C8B-B14F-4D97-AF65-F5344CB8AC3E}">
        <p14:creationId xmlns:p14="http://schemas.microsoft.com/office/powerpoint/2010/main" val="3490286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F97F53-571D-9F18-7351-867C42725556}"/>
              </a:ext>
            </a:extLst>
          </p:cNvPr>
          <p:cNvSpPr>
            <a:spLocks noGrp="1"/>
          </p:cNvSpPr>
          <p:nvPr>
            <p:ph type="title"/>
          </p:nvPr>
        </p:nvSpPr>
        <p:spPr>
          <a:xfrm>
            <a:off x="704088" y="914401"/>
            <a:ext cx="6766560" cy="1307592"/>
          </a:xfrm>
        </p:spPr>
        <p:txBody>
          <a:bodyPr vert="horz" lIns="91440" tIns="45720" rIns="91440" bIns="45720" rtlCol="0" anchor="t">
            <a:normAutofit/>
          </a:bodyPr>
          <a:lstStyle/>
          <a:p>
            <a:pPr>
              <a:lnSpc>
                <a:spcPct val="90000"/>
              </a:lnSpc>
            </a:pPr>
            <a:r>
              <a:rPr lang="en-US"/>
              <a:t>Types of regression problems</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8FB1C5A-09E8-DF82-4058-18CA91A1D03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 y="2221994"/>
            <a:ext cx="6766560" cy="3739896"/>
          </a:xfrm>
        </p:spPr>
        <p:txBody>
          <a:bodyPr>
            <a:normAutofit/>
          </a:bodyPr>
          <a:lstStyle/>
          <a:p>
            <a:pPr marL="0" indent="0">
              <a:spcBef>
                <a:spcPts val="2500"/>
              </a:spcBef>
              <a:buFont typeface="Arial" panose="020B0604020202020204" pitchFamily="34" charset="0"/>
              <a:buNone/>
            </a:pPr>
            <a:r>
              <a:rPr lang="en-GB" sz="1400" b="1"/>
              <a:t>Linear Regression</a:t>
            </a:r>
          </a:p>
          <a:p>
            <a:pPr marL="0" lvl="1" indent="0">
              <a:buFont typeface="Arial" panose="020B0604020202020204" pitchFamily="34" charset="0"/>
              <a:buNone/>
            </a:pPr>
            <a:r>
              <a:rPr lang="en-GB" sz="1400"/>
              <a:t>Linear regression models the relationship between variables using a straight line for simple, direct trends.</a:t>
            </a:r>
          </a:p>
          <a:p>
            <a:pPr marL="0" indent="0">
              <a:spcBef>
                <a:spcPts val="2500"/>
              </a:spcBef>
              <a:buFont typeface="Arial" panose="020B0604020202020204" pitchFamily="34" charset="0"/>
              <a:buNone/>
            </a:pPr>
            <a:r>
              <a:rPr lang="en-GB" sz="1400" b="1"/>
              <a:t>Polynomial Regression</a:t>
            </a:r>
          </a:p>
          <a:p>
            <a:pPr marL="0" lvl="1" indent="0">
              <a:buFont typeface="Arial" panose="020B0604020202020204" pitchFamily="34" charset="0"/>
              <a:buNone/>
            </a:pPr>
            <a:r>
              <a:rPr lang="en-GB" sz="1400"/>
              <a:t>Polynomial regression handles complex data by fitting a curved line to capture non-linear relationships.</a:t>
            </a:r>
          </a:p>
          <a:p>
            <a:pPr marL="0" indent="0">
              <a:spcBef>
                <a:spcPts val="2500"/>
              </a:spcBef>
              <a:buFont typeface="Arial" panose="020B0604020202020204" pitchFamily="34" charset="0"/>
              <a:buNone/>
            </a:pPr>
            <a:r>
              <a:rPr lang="en-GB" sz="1400" b="1"/>
              <a:t>Logistic Regression</a:t>
            </a:r>
          </a:p>
          <a:p>
            <a:pPr marL="0" lvl="1" indent="0">
              <a:buFont typeface="Arial" panose="020B0604020202020204" pitchFamily="34" charset="0"/>
              <a:buNone/>
            </a:pPr>
            <a:r>
              <a:rPr lang="en-GB" sz="1400"/>
              <a:t>Logistic regression models probabilities for classification problems using an S-shaped logistic curve.</a:t>
            </a:r>
          </a:p>
        </p:txBody>
      </p: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A09B6386-DD44-4699-A823-1B180C0F2F3F}"/>
              </a:ext>
            </a:extLst>
          </p:cNvPr>
          <p:cNvPicPr>
            <a:picLocks noGrp="1" noChangeAspect="1"/>
          </p:cNvPicPr>
          <p:nvPr>
            <p:ph sz="half" idx="1"/>
          </p:nvPr>
        </p:nvPicPr>
        <p:blipFill>
          <a:blip r:embed="rId3"/>
          <a:srcRect l="31740" r="36903" b="-1"/>
          <a:stretch>
            <a:fillRect/>
          </a:stretch>
        </p:blipFill>
        <p:spPr>
          <a:xfrm>
            <a:off x="8115300" y="10"/>
            <a:ext cx="4076700" cy="6857990"/>
          </a:xfrm>
          <a:prstGeom prst="rect">
            <a:avLst/>
          </a:prstGeom>
        </p:spPr>
      </p:pic>
    </p:spTree>
    <p:extLst>
      <p:ext uri="{BB962C8B-B14F-4D97-AF65-F5344CB8AC3E}">
        <p14:creationId xmlns:p14="http://schemas.microsoft.com/office/powerpoint/2010/main" val="1336333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0D007061-54A0-AD6B-9A3F-B29223FAE268}"/>
              </a:ext>
            </a:extLst>
          </p:cNvPr>
          <p:cNvSpPr>
            <a:spLocks noGrp="1"/>
          </p:cNvSpPr>
          <p:nvPr>
            <p:ph type="ctrTitle"/>
          </p:nvPr>
        </p:nvSpPr>
        <p:spPr>
          <a:xfrm>
            <a:off x="695324" y="1145308"/>
            <a:ext cx="7600263" cy="4860947"/>
          </a:xfrm>
        </p:spPr>
        <p:txBody>
          <a:bodyPr anchor="b">
            <a:normAutofit/>
          </a:bodyPr>
          <a:lstStyle/>
          <a:p>
            <a:r>
              <a:rPr lang="en-GB" sz="7600"/>
              <a:t>Overview of TensorFlow and Its Capabilities</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3073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440242-5177-A31D-914F-B8E663F0D947}"/>
              </a:ext>
            </a:extLst>
          </p:cNvPr>
          <p:cNvSpPr>
            <a:spLocks noGrp="1"/>
          </p:cNvSpPr>
          <p:nvPr>
            <p:ph type="title"/>
          </p:nvPr>
        </p:nvSpPr>
        <p:spPr>
          <a:xfrm>
            <a:off x="704087" y="914400"/>
            <a:ext cx="4041648" cy="1928741"/>
          </a:xfrm>
        </p:spPr>
        <p:txBody>
          <a:bodyPr vert="horz" lIns="91440" tIns="45720" rIns="91440" bIns="45720" rtlCol="0" anchor="t">
            <a:normAutofit/>
          </a:bodyPr>
          <a:lstStyle/>
          <a:p>
            <a:r>
              <a:rPr lang="en-US"/>
              <a:t>Key features of TensorFlow</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cpu on circuit board technology backgrounds">
            <a:extLst>
              <a:ext uri="{FF2B5EF4-FFF2-40B4-BE49-F238E27FC236}">
                <a16:creationId xmlns:a16="http://schemas.microsoft.com/office/drawing/2014/main" id="{4D282D51-E9D4-4C85-94D6-F1CD1D40B94B}"/>
              </a:ext>
            </a:extLst>
          </p:cNvPr>
          <p:cNvPicPr>
            <a:picLocks noGrp="1" noChangeAspect="1"/>
          </p:cNvPicPr>
          <p:nvPr>
            <p:ph sz="half" idx="1"/>
          </p:nvPr>
        </p:nvPicPr>
        <p:blipFill>
          <a:blip r:embed="rId3"/>
          <a:srcRect l="1450" r="10026" b="-3"/>
          <a:stretch>
            <a:fillRect/>
          </a:stretch>
        </p:blipFill>
        <p:spPr>
          <a:xfrm>
            <a:off x="804672" y="3044952"/>
            <a:ext cx="3941064" cy="2971800"/>
          </a:xfrm>
          <a:prstGeom prst="rect">
            <a:avLst/>
          </a:prstGeom>
        </p:spPr>
      </p:pic>
      <p:sp>
        <p:nvSpPr>
          <p:cNvPr id="4" name="Content Placeholder 3">
            <a:extLst>
              <a:ext uri="{FF2B5EF4-FFF2-40B4-BE49-F238E27FC236}">
                <a16:creationId xmlns:a16="http://schemas.microsoft.com/office/drawing/2014/main" id="{04D5E00B-A914-39B2-6A3C-5B1877307EC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952" y="968377"/>
            <a:ext cx="6144768" cy="5006436"/>
          </a:xfrm>
        </p:spPr>
        <p:txBody>
          <a:bodyPr>
            <a:normAutofit/>
          </a:bodyPr>
          <a:lstStyle/>
          <a:p>
            <a:pPr marL="0" indent="0">
              <a:spcBef>
                <a:spcPts val="2500"/>
              </a:spcBef>
              <a:buFont typeface="Arial" panose="020B0604020202020204" pitchFamily="34" charset="0"/>
              <a:buNone/>
            </a:pPr>
            <a:r>
              <a:rPr lang="en-GB" sz="1400" b="1"/>
              <a:t>Flexible Architecture</a:t>
            </a:r>
          </a:p>
          <a:p>
            <a:pPr marL="0" lvl="1" indent="0">
              <a:buFont typeface="Arial" panose="020B0604020202020204" pitchFamily="34" charset="0"/>
              <a:buNone/>
            </a:pPr>
            <a:r>
              <a:rPr lang="en-GB" sz="1400"/>
              <a:t>TensorFlow provides a flexible architecture suitable for a wide range of machine learning models and workflows.</a:t>
            </a:r>
          </a:p>
          <a:p>
            <a:pPr marL="0" indent="0">
              <a:spcBef>
                <a:spcPts val="2500"/>
              </a:spcBef>
              <a:buFont typeface="Arial" panose="020B0604020202020204" pitchFamily="34" charset="0"/>
              <a:buNone/>
            </a:pPr>
            <a:r>
              <a:rPr lang="en-GB" sz="1400" b="1"/>
              <a:t>Deep Learning Support</a:t>
            </a:r>
          </a:p>
          <a:p>
            <a:pPr marL="0" lvl="1" indent="0">
              <a:buFont typeface="Arial" panose="020B0604020202020204" pitchFamily="34" charset="0"/>
              <a:buNone/>
            </a:pPr>
            <a:r>
              <a:rPr lang="en-GB" sz="1400"/>
              <a:t>TensorFlow supports deep learning applications, enabling complex neural network designs and training.</a:t>
            </a:r>
          </a:p>
          <a:p>
            <a:pPr marL="0" indent="0">
              <a:spcBef>
                <a:spcPts val="2500"/>
              </a:spcBef>
              <a:buFont typeface="Arial" panose="020B0604020202020204" pitchFamily="34" charset="0"/>
              <a:buNone/>
            </a:pPr>
            <a:r>
              <a:rPr lang="en-GB" sz="1400" b="1"/>
              <a:t>Efficient Computation</a:t>
            </a:r>
          </a:p>
          <a:p>
            <a:pPr marL="0" lvl="1" indent="0">
              <a:buFont typeface="Arial" panose="020B0604020202020204" pitchFamily="34" charset="0"/>
              <a:buNone/>
            </a:pPr>
            <a:r>
              <a:rPr lang="en-GB" sz="1400"/>
              <a:t>TensorFlow efficiently utilizes CPUs and GPUs to accelerate computation for faster training and inference.</a:t>
            </a:r>
          </a:p>
          <a:p>
            <a:pPr marL="0" indent="0">
              <a:spcBef>
                <a:spcPts val="2500"/>
              </a:spcBef>
              <a:buFont typeface="Arial" panose="020B0604020202020204" pitchFamily="34" charset="0"/>
              <a:buNone/>
            </a:pPr>
            <a:r>
              <a:rPr lang="en-GB" sz="1400" b="1"/>
              <a:t>Community Support</a:t>
            </a:r>
          </a:p>
          <a:p>
            <a:pPr marL="0" lvl="1" indent="0">
              <a:buFont typeface="Arial" panose="020B0604020202020204" pitchFamily="34" charset="0"/>
              <a:buNone/>
            </a:pPr>
            <a:r>
              <a:rPr lang="en-GB" sz="1400"/>
              <a:t>TensorFlow benefits from extensive community support, offering resources, tools, and collaboration opportunities.</a:t>
            </a:r>
          </a:p>
        </p:txBody>
      </p:sp>
      <p:cxnSp>
        <p:nvCxnSpPr>
          <p:cNvPr id="18" name="Straight Connector 1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629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CCBCAA-8233-EEE9-C8C9-97A5B7A75EF4}"/>
              </a:ext>
            </a:extLst>
          </p:cNvPr>
          <p:cNvSpPr>
            <a:spLocks noGrp="1"/>
          </p:cNvSpPr>
          <p:nvPr>
            <p:ph type="title"/>
          </p:nvPr>
        </p:nvSpPr>
        <p:spPr>
          <a:xfrm>
            <a:off x="704088" y="914400"/>
            <a:ext cx="10687812" cy="798194"/>
          </a:xfrm>
        </p:spPr>
        <p:txBody>
          <a:bodyPr vert="horz" lIns="91440" tIns="45720" rIns="91440" bIns="45720" rtlCol="0" anchor="t">
            <a:normAutofit/>
          </a:bodyPr>
          <a:lstStyle/>
          <a:p>
            <a:r>
              <a:rPr lang="en-US" sz="3700"/>
              <a:t>Setting up TensorFlow for machine learning</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computer interface concept, monitoring a server room with network security and cloud computing.">
            <a:extLst>
              <a:ext uri="{FF2B5EF4-FFF2-40B4-BE49-F238E27FC236}">
                <a16:creationId xmlns:a16="http://schemas.microsoft.com/office/drawing/2014/main" id="{BEE24370-2FF7-4B8C-BA35-76D0B402FE14}"/>
              </a:ext>
            </a:extLst>
          </p:cNvPr>
          <p:cNvPicPr>
            <a:picLocks noGrp="1" noChangeAspect="1"/>
          </p:cNvPicPr>
          <p:nvPr>
            <p:ph sz="half" idx="1"/>
          </p:nvPr>
        </p:nvPicPr>
        <p:blipFill>
          <a:blip r:embed="rId3"/>
          <a:stretch>
            <a:fillRect/>
          </a:stretch>
        </p:blipFill>
        <p:spPr>
          <a:xfrm>
            <a:off x="800100" y="2593459"/>
            <a:ext cx="6072188" cy="3415605"/>
          </a:xfrm>
          <a:prstGeom prst="rect">
            <a:avLst/>
          </a:prstGeom>
        </p:spPr>
      </p:pic>
      <p:sp>
        <p:nvSpPr>
          <p:cNvPr id="4" name="Content Placeholder 3">
            <a:extLst>
              <a:ext uri="{FF2B5EF4-FFF2-40B4-BE49-F238E27FC236}">
                <a16:creationId xmlns:a16="http://schemas.microsoft.com/office/drawing/2014/main" id="{792E6E66-0675-A8CB-3A0E-1C516ED1F71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0900" y="1849121"/>
            <a:ext cx="4191001" cy="4139626"/>
          </a:xfrm>
        </p:spPr>
        <p:txBody>
          <a:bodyPr>
            <a:normAutofit/>
          </a:bodyPr>
          <a:lstStyle/>
          <a:p>
            <a:pPr marL="0" indent="0">
              <a:spcBef>
                <a:spcPts val="2500"/>
              </a:spcBef>
              <a:buFont typeface="Arial" panose="020B0604020202020204" pitchFamily="34" charset="0"/>
              <a:buNone/>
            </a:pPr>
            <a:r>
              <a:rPr lang="en-GB" sz="1400" b="1"/>
              <a:t>TensorFlow Installation</a:t>
            </a:r>
          </a:p>
          <a:p>
            <a:pPr marL="0" lvl="1" indent="0">
              <a:buFont typeface="Arial" panose="020B0604020202020204" pitchFamily="34" charset="0"/>
              <a:buNone/>
            </a:pPr>
            <a:r>
              <a:rPr lang="en-GB" sz="1400"/>
              <a:t>Install TensorFlow library using package managers like pip for efficient machine learning workflows.</a:t>
            </a:r>
          </a:p>
          <a:p>
            <a:pPr marL="0" indent="0">
              <a:spcBef>
                <a:spcPts val="2500"/>
              </a:spcBef>
              <a:buFont typeface="Arial" panose="020B0604020202020204" pitchFamily="34" charset="0"/>
              <a:buNone/>
            </a:pPr>
            <a:r>
              <a:rPr lang="en-GB" sz="1400" b="1"/>
              <a:t>Environment Configuration</a:t>
            </a:r>
          </a:p>
          <a:p>
            <a:pPr marL="0" lvl="1" indent="0">
              <a:buFont typeface="Arial" panose="020B0604020202020204" pitchFamily="34" charset="0"/>
              <a:buNone/>
            </a:pPr>
            <a:r>
              <a:rPr lang="en-GB" sz="1400"/>
              <a:t>Configure programming environments such as Python and virtual environments for smooth TensorFlow usage.</a:t>
            </a:r>
          </a:p>
          <a:p>
            <a:pPr marL="0" indent="0">
              <a:spcBef>
                <a:spcPts val="2500"/>
              </a:spcBef>
              <a:buFont typeface="Arial" panose="020B0604020202020204" pitchFamily="34" charset="0"/>
              <a:buNone/>
            </a:pPr>
            <a:r>
              <a:rPr lang="en-GB" sz="1400" b="1"/>
              <a:t>Dataset Preparation</a:t>
            </a:r>
          </a:p>
          <a:p>
            <a:pPr marL="0" lvl="1" indent="0">
              <a:buFont typeface="Arial" panose="020B0604020202020204" pitchFamily="34" charset="0"/>
              <a:buNone/>
            </a:pPr>
            <a:r>
              <a:rPr lang="en-GB" sz="1400"/>
              <a:t>Prepare and preprocess datasets to ensure compatibility and accuracy in regression model training.</a:t>
            </a:r>
          </a:p>
        </p:txBody>
      </p:sp>
      <p:cxnSp>
        <p:nvCxnSpPr>
          <p:cNvPr id="18" name="Straight Connector 1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3750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427750-593E-0EE3-B683-479F2AF599A6}"/>
              </a:ext>
            </a:extLst>
          </p:cNvPr>
          <p:cNvSpPr>
            <a:spLocks noGrp="1"/>
          </p:cNvSpPr>
          <p:nvPr>
            <p:ph type="title"/>
          </p:nvPr>
        </p:nvSpPr>
        <p:spPr>
          <a:xfrm>
            <a:off x="704087" y="914400"/>
            <a:ext cx="4041648" cy="1928741"/>
          </a:xfrm>
        </p:spPr>
        <p:txBody>
          <a:bodyPr vert="horz" lIns="91440" tIns="45720" rIns="91440" bIns="45720" rtlCol="0" anchor="t">
            <a:normAutofit/>
          </a:bodyPr>
          <a:lstStyle/>
          <a:p>
            <a:pPr>
              <a:lnSpc>
                <a:spcPct val="90000"/>
              </a:lnSpc>
            </a:pPr>
            <a:r>
              <a:rPr lang="en-US" sz="3400"/>
              <a:t>Advantages of TensorFlow for regression tasks</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fourth industrial revolution technology concept">
            <a:extLst>
              <a:ext uri="{FF2B5EF4-FFF2-40B4-BE49-F238E27FC236}">
                <a16:creationId xmlns:a16="http://schemas.microsoft.com/office/drawing/2014/main" id="{9F1A8191-8007-4A9D-88FE-B7F752EDD9FC}"/>
              </a:ext>
            </a:extLst>
          </p:cNvPr>
          <p:cNvPicPr>
            <a:picLocks noGrp="1" noChangeAspect="1"/>
          </p:cNvPicPr>
          <p:nvPr>
            <p:ph sz="half" idx="1"/>
          </p:nvPr>
        </p:nvPicPr>
        <p:blipFill>
          <a:blip r:embed="rId3"/>
          <a:srcRect l="6281" r="19123"/>
          <a:stretch>
            <a:fillRect/>
          </a:stretch>
        </p:blipFill>
        <p:spPr>
          <a:xfrm>
            <a:off x="804672" y="3044952"/>
            <a:ext cx="3941064" cy="2971800"/>
          </a:xfrm>
          <a:prstGeom prst="rect">
            <a:avLst/>
          </a:prstGeom>
        </p:spPr>
      </p:pic>
      <p:sp>
        <p:nvSpPr>
          <p:cNvPr id="4" name="Content Placeholder 3">
            <a:extLst>
              <a:ext uri="{FF2B5EF4-FFF2-40B4-BE49-F238E27FC236}">
                <a16:creationId xmlns:a16="http://schemas.microsoft.com/office/drawing/2014/main" id="{E010D511-0086-5025-7B8D-474643C4057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952" y="968377"/>
            <a:ext cx="6144768" cy="5006436"/>
          </a:xfrm>
        </p:spPr>
        <p:txBody>
          <a:bodyPr>
            <a:normAutofit/>
          </a:bodyPr>
          <a:lstStyle/>
          <a:p>
            <a:pPr marL="0" indent="0">
              <a:spcBef>
                <a:spcPts val="2500"/>
              </a:spcBef>
              <a:buFont typeface="Arial" panose="020B0604020202020204" pitchFamily="34" charset="0"/>
              <a:buNone/>
            </a:pPr>
            <a:r>
              <a:rPr lang="en-GB" sz="1400" b="1"/>
              <a:t>Scalable Model Building</a:t>
            </a:r>
          </a:p>
          <a:p>
            <a:pPr marL="0" lvl="1" indent="0">
              <a:buFont typeface="Arial" panose="020B0604020202020204" pitchFamily="34" charset="0"/>
              <a:buNone/>
            </a:pPr>
            <a:r>
              <a:rPr lang="en-GB" sz="1400"/>
              <a:t>TensorFlow supports scalable construction of regression models suitable for various data sizes and complexities.</a:t>
            </a:r>
          </a:p>
          <a:p>
            <a:pPr marL="0" indent="0">
              <a:spcBef>
                <a:spcPts val="2500"/>
              </a:spcBef>
              <a:buFont typeface="Arial" panose="020B0604020202020204" pitchFamily="34" charset="0"/>
              <a:buNone/>
            </a:pPr>
            <a:r>
              <a:rPr lang="en-GB" sz="1400" b="1"/>
              <a:t>Data Pipeline Integration</a:t>
            </a:r>
          </a:p>
          <a:p>
            <a:pPr marL="0" lvl="1" indent="0">
              <a:buFont typeface="Arial" panose="020B0604020202020204" pitchFamily="34" charset="0"/>
              <a:buNone/>
            </a:pPr>
            <a:r>
              <a:rPr lang="en-GB" sz="1400"/>
              <a:t>TensorFlow easily integrates with diverse data pipelines ensuring smooth data flow for regression tasks.</a:t>
            </a:r>
          </a:p>
          <a:p>
            <a:pPr marL="0" indent="0">
              <a:spcBef>
                <a:spcPts val="2500"/>
              </a:spcBef>
              <a:buFont typeface="Arial" panose="020B0604020202020204" pitchFamily="34" charset="0"/>
              <a:buNone/>
            </a:pPr>
            <a:r>
              <a:rPr lang="en-GB" sz="1400" b="1"/>
              <a:t>Robust Training and Evaluation</a:t>
            </a:r>
          </a:p>
          <a:p>
            <a:pPr marL="0" lvl="1" indent="0">
              <a:buFont typeface="Arial" panose="020B0604020202020204" pitchFamily="34" charset="0"/>
              <a:buNone/>
            </a:pPr>
            <a:r>
              <a:rPr lang="en-GB" sz="1400"/>
              <a:t>TensorFlow offers comprehensive tools for training, evaluation, and optimisation of regression models.</a:t>
            </a:r>
          </a:p>
        </p:txBody>
      </p:sp>
      <p:cxnSp>
        <p:nvCxnSpPr>
          <p:cNvPr id="18" name="Straight Connector 1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034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8564D019-584E-A1B6-8437-A84C53E412F7}"/>
              </a:ext>
            </a:extLst>
          </p:cNvPr>
          <p:cNvSpPr>
            <a:spLocks noGrp="1"/>
          </p:cNvSpPr>
          <p:nvPr>
            <p:ph type="ctrTitle"/>
          </p:nvPr>
        </p:nvSpPr>
        <p:spPr>
          <a:xfrm>
            <a:off x="695324" y="1145308"/>
            <a:ext cx="7600263" cy="4860947"/>
          </a:xfrm>
        </p:spPr>
        <p:txBody>
          <a:bodyPr anchor="b">
            <a:normAutofit/>
          </a:bodyPr>
          <a:lstStyle/>
          <a:p>
            <a:r>
              <a:rPr lang="en-GB" sz="7600"/>
              <a:t>Implementing Regression Models in TensorFlow</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717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970F2-DED3-2A6F-7CA5-490B420BB4E4}"/>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Preparing data for TensorFlow regression</a:t>
            </a:r>
          </a:p>
        </p:txBody>
      </p:sp>
      <p:pic>
        <p:nvPicPr>
          <p:cNvPr id="5" name="Content Placeholder 4" descr="3D illustration.">
            <a:extLst>
              <a:ext uri="{FF2B5EF4-FFF2-40B4-BE49-F238E27FC236}">
                <a16:creationId xmlns:a16="http://schemas.microsoft.com/office/drawing/2014/main" id="{3EB1BA34-92B7-4C4A-9486-656D9A6C43C7}"/>
              </a:ext>
            </a:extLst>
          </p:cNvPr>
          <p:cNvPicPr>
            <a:picLocks noGrp="1" noChangeAspect="1"/>
          </p:cNvPicPr>
          <p:nvPr>
            <p:ph sz="half" idx="1"/>
          </p:nvPr>
        </p:nvPicPr>
        <p:blipFill>
          <a:blip r:embed="rId3"/>
          <a:srcRect l="3769" r="50351" b="1"/>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4D1ED575-EAAE-99B8-7743-8C625695C47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GB" sz="1400" b="1"/>
              <a:t>Data Cleaning</a:t>
            </a:r>
          </a:p>
          <a:p>
            <a:pPr marL="0" lvl="1" indent="0">
              <a:buFont typeface="Arial" panose="020B0604020202020204" pitchFamily="34" charset="0"/>
              <a:buNone/>
            </a:pPr>
            <a:r>
              <a:rPr lang="en-GB" sz="1400"/>
              <a:t>Removing errors and inconsistencies from data is essential for accurate regression model training.</a:t>
            </a:r>
          </a:p>
          <a:p>
            <a:pPr marL="0" indent="0">
              <a:spcBef>
                <a:spcPts val="2500"/>
              </a:spcBef>
              <a:buFont typeface="Arial" panose="020B0604020202020204" pitchFamily="34" charset="0"/>
              <a:buNone/>
            </a:pPr>
            <a:r>
              <a:rPr lang="en-GB" sz="1400" b="1"/>
              <a:t>Data Normalisation</a:t>
            </a:r>
          </a:p>
          <a:p>
            <a:pPr marL="0" lvl="1" indent="0">
              <a:buFont typeface="Arial" panose="020B0604020202020204" pitchFamily="34" charset="0"/>
              <a:buNone/>
            </a:pPr>
            <a:r>
              <a:rPr lang="en-GB" sz="1400"/>
              <a:t>Normalising data scales values to a common range, improving model convergence and performance.</a:t>
            </a:r>
          </a:p>
          <a:p>
            <a:pPr marL="0" indent="0">
              <a:spcBef>
                <a:spcPts val="2500"/>
              </a:spcBef>
              <a:buFont typeface="Arial" panose="020B0604020202020204" pitchFamily="34" charset="0"/>
              <a:buNone/>
            </a:pPr>
            <a:r>
              <a:rPr lang="en-GB" sz="1400" b="1"/>
              <a:t>Training and Testing Split</a:t>
            </a:r>
          </a:p>
          <a:p>
            <a:pPr marL="0" lvl="1" indent="0">
              <a:buFont typeface="Arial" panose="020B0604020202020204" pitchFamily="34" charset="0"/>
              <a:buNone/>
            </a:pPr>
            <a:r>
              <a:rPr lang="en-GB" sz="1400"/>
              <a:t>Splitting data into training and testing sets helps evaluate model accuracy and avoid overfitting.</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0298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9BED9C-316D-5C43-DDBF-BA1AC6F59CB5}"/>
              </a:ext>
            </a:extLst>
          </p:cNvPr>
          <p:cNvSpPr>
            <a:spLocks noGrp="1"/>
          </p:cNvSpPr>
          <p:nvPr>
            <p:ph type="title"/>
          </p:nvPr>
        </p:nvSpPr>
        <p:spPr>
          <a:xfrm>
            <a:off x="704087" y="909637"/>
            <a:ext cx="4800600" cy="1307592"/>
          </a:xfrm>
        </p:spPr>
        <p:txBody>
          <a:bodyPr vert="horz" lIns="91440" tIns="45720" rIns="91440" bIns="45720" rtlCol="0" anchor="t">
            <a:normAutofit/>
          </a:bodyPr>
          <a:lstStyle/>
          <a:p>
            <a:pPr>
              <a:lnSpc>
                <a:spcPct val="90000"/>
              </a:lnSpc>
            </a:pPr>
            <a:r>
              <a:rPr lang="en-US"/>
              <a:t>Building a linear regression model</a:t>
            </a:r>
          </a:p>
        </p:txBody>
      </p:sp>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6451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14E72619-BF2B-19C2-00FD-9A900876178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2221992"/>
            <a:ext cx="4800600" cy="3739896"/>
          </a:xfrm>
        </p:spPr>
        <p:txBody>
          <a:bodyPr>
            <a:normAutofit/>
          </a:bodyPr>
          <a:lstStyle/>
          <a:p>
            <a:pPr marL="0" indent="0">
              <a:spcBef>
                <a:spcPts val="2500"/>
              </a:spcBef>
              <a:buFont typeface="Arial" panose="020B0604020202020204" pitchFamily="34" charset="0"/>
              <a:buNone/>
            </a:pPr>
            <a:r>
              <a:rPr lang="en-GB" sz="1400" b="1"/>
              <a:t>Model Structure</a:t>
            </a:r>
          </a:p>
          <a:p>
            <a:pPr marL="0" lvl="1" indent="0">
              <a:buFont typeface="Arial" panose="020B0604020202020204" pitchFamily="34" charset="0"/>
              <a:buNone/>
            </a:pPr>
            <a:r>
              <a:rPr lang="en-GB" sz="1400"/>
              <a:t>Linear regression uses layers to connect input features with output predictions clearly and efficiently.</a:t>
            </a:r>
          </a:p>
          <a:p>
            <a:pPr marL="0" indent="0">
              <a:spcBef>
                <a:spcPts val="2500"/>
              </a:spcBef>
              <a:buFont typeface="Arial" panose="020B0604020202020204" pitchFamily="34" charset="0"/>
              <a:buNone/>
            </a:pPr>
            <a:r>
              <a:rPr lang="en-GB" sz="1400" b="1"/>
              <a:t>Weight Optimization</a:t>
            </a:r>
          </a:p>
          <a:p>
            <a:pPr marL="0" lvl="1" indent="0">
              <a:buFont typeface="Arial" panose="020B0604020202020204" pitchFamily="34" charset="0"/>
              <a:buNone/>
            </a:pPr>
            <a:r>
              <a:rPr lang="en-GB" sz="1400"/>
              <a:t>Weights are adjusted during training to minimise prediction errors and improve model accuracy.</a:t>
            </a:r>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4645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FB1D8915-DF67-4153-9A23-FBBFB9F03C4B}"/>
              </a:ext>
            </a:extLst>
          </p:cNvPr>
          <p:cNvPicPr>
            <a:picLocks noGrp="1" noChangeAspect="1"/>
          </p:cNvPicPr>
          <p:nvPr>
            <p:ph sz="half" idx="1"/>
          </p:nvPr>
        </p:nvPicPr>
        <p:blipFill>
          <a:blip r:embed="rId3"/>
          <a:srcRect l="13636" r="27534" b="-1"/>
          <a:stretch>
            <a:fillRect/>
          </a:stretch>
        </p:blipFill>
        <p:spPr>
          <a:xfrm>
            <a:off x="6147816" y="10"/>
            <a:ext cx="6044184" cy="6857990"/>
          </a:xfrm>
          <a:prstGeom prst="rect">
            <a:avLst/>
          </a:prstGeom>
        </p:spPr>
      </p:pic>
    </p:spTree>
    <p:extLst>
      <p:ext uri="{BB962C8B-B14F-4D97-AF65-F5344CB8AC3E}">
        <p14:creationId xmlns:p14="http://schemas.microsoft.com/office/powerpoint/2010/main" val="13606036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E75690-E1EB-2867-15B3-097FA6F4085C}"/>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Training, evaluation, and interpretation</a:t>
            </a:r>
          </a:p>
        </p:txBody>
      </p:sp>
      <p:pic>
        <p:nvPicPr>
          <p:cNvPr id="5" name="Content Placeholder 4" descr="Female drawing flow chart">
            <a:extLst>
              <a:ext uri="{FF2B5EF4-FFF2-40B4-BE49-F238E27FC236}">
                <a16:creationId xmlns:a16="http://schemas.microsoft.com/office/drawing/2014/main" id="{93D6F561-8231-4495-9972-78CE1A85AAD3}"/>
              </a:ext>
            </a:extLst>
          </p:cNvPr>
          <p:cNvPicPr>
            <a:picLocks noGrp="1" noChangeAspect="1"/>
          </p:cNvPicPr>
          <p:nvPr>
            <p:ph sz="half" idx="1"/>
          </p:nvPr>
        </p:nvPicPr>
        <p:blipFill>
          <a:blip r:embed="rId3"/>
          <a:srcRect l="28284" r="31647"/>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01E80F7C-AC9D-A8C6-4614-6CAA26ABB07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GB" sz="1400" b="1"/>
              <a:t>Model Training Process</a:t>
            </a:r>
          </a:p>
          <a:p>
            <a:pPr marL="0" lvl="1" indent="0">
              <a:buFont typeface="Arial" panose="020B0604020202020204" pitchFamily="34" charset="0"/>
              <a:buNone/>
            </a:pPr>
            <a:r>
              <a:rPr lang="en-GB" sz="1400"/>
              <a:t>Training involves feeding data through the model and adjusting its parameters to improve performance.</a:t>
            </a:r>
          </a:p>
          <a:p>
            <a:pPr marL="0" indent="0">
              <a:spcBef>
                <a:spcPts val="2500"/>
              </a:spcBef>
              <a:buFont typeface="Arial" panose="020B0604020202020204" pitchFamily="34" charset="0"/>
              <a:buNone/>
            </a:pPr>
            <a:r>
              <a:rPr lang="en-GB" sz="1400" b="1"/>
              <a:t>Evaluation Metrics</a:t>
            </a:r>
          </a:p>
          <a:p>
            <a:pPr marL="0" lvl="1" indent="0">
              <a:buFont typeface="Arial" panose="020B0604020202020204" pitchFamily="34" charset="0"/>
              <a:buNone/>
            </a:pPr>
            <a:r>
              <a:rPr lang="en-GB" sz="1400"/>
              <a:t>Evaluation metrics like mean squared error measure the model's accuracy and performance.</a:t>
            </a:r>
          </a:p>
          <a:p>
            <a:pPr marL="0" indent="0">
              <a:spcBef>
                <a:spcPts val="2500"/>
              </a:spcBef>
              <a:buFont typeface="Arial" panose="020B0604020202020204" pitchFamily="34" charset="0"/>
              <a:buNone/>
            </a:pPr>
            <a:r>
              <a:rPr lang="en-GB" sz="1400" b="1"/>
              <a:t>Model Interpretation</a:t>
            </a:r>
          </a:p>
          <a:p>
            <a:pPr marL="0" lvl="1" indent="0">
              <a:buFont typeface="Arial" panose="020B0604020202020204" pitchFamily="34" charset="0"/>
              <a:buNone/>
            </a:pPr>
            <a:r>
              <a:rPr lang="en-GB" sz="1400"/>
              <a:t>Interpretation helps understand insights from the model to explain its predictions and behaviour.</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9284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A1BC53D4-5F9A-1979-9B35-C2CDD502DAD3}"/>
              </a:ext>
            </a:extLst>
          </p:cNvPr>
          <p:cNvSpPr>
            <a:spLocks noGrp="1"/>
          </p:cNvSpPr>
          <p:nvPr>
            <p:ph type="ctrTitle"/>
          </p:nvPr>
        </p:nvSpPr>
        <p:spPr>
          <a:xfrm>
            <a:off x="695324" y="1145308"/>
            <a:ext cx="7600263" cy="4860947"/>
          </a:xfrm>
        </p:spPr>
        <p:txBody>
          <a:bodyPr anchor="b">
            <a:normAutofit/>
          </a:bodyPr>
          <a:lstStyle/>
          <a:p>
            <a:r>
              <a:rPr lang="en-GB" sz="7600"/>
              <a:t>Advanced Techniques and Best Practices</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4267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BC1176-57E7-0F32-2FBF-3212900B685F}"/>
              </a:ext>
            </a:extLst>
          </p:cNvPr>
          <p:cNvSpPr>
            <a:spLocks noGrp="1"/>
          </p:cNvSpPr>
          <p:nvPr>
            <p:ph type="title"/>
          </p:nvPr>
        </p:nvSpPr>
        <p:spPr>
          <a:xfrm>
            <a:off x="704088" y="914401"/>
            <a:ext cx="6766560" cy="1307592"/>
          </a:xfrm>
        </p:spPr>
        <p:txBody>
          <a:bodyPr vert="horz" lIns="91440" tIns="45720" rIns="91440" bIns="45720" rtlCol="0" anchor="t">
            <a:normAutofit/>
          </a:bodyPr>
          <a:lstStyle/>
          <a:p>
            <a:pPr>
              <a:lnSpc>
                <a:spcPct val="90000"/>
              </a:lnSpc>
            </a:pPr>
            <a:r>
              <a:rPr lang="en-US" sz="3100"/>
              <a:t>Handling non-linear regression with neural networks</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6530A3CE-D92D-4099-0D58-74961C35F8A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 y="2221994"/>
            <a:ext cx="6766560" cy="3739896"/>
          </a:xfrm>
        </p:spPr>
        <p:txBody>
          <a:bodyPr>
            <a:normAutofit/>
          </a:bodyPr>
          <a:lstStyle/>
          <a:p>
            <a:pPr marL="0" indent="0">
              <a:spcBef>
                <a:spcPts val="2500"/>
              </a:spcBef>
              <a:buFont typeface="Arial" panose="020B0604020202020204" pitchFamily="34" charset="0"/>
              <a:buNone/>
            </a:pPr>
            <a:r>
              <a:rPr lang="en-GB" sz="1400" b="1"/>
              <a:t>Neural Networks Structure</a:t>
            </a:r>
          </a:p>
          <a:p>
            <a:pPr marL="0" lvl="1" indent="0">
              <a:buFont typeface="Arial" panose="020B0604020202020204" pitchFamily="34" charset="0"/>
              <a:buNone/>
            </a:pPr>
            <a:r>
              <a:rPr lang="en-GB" sz="1400"/>
              <a:t>Neural networks use multiple stacked layers to capture complex non-linear relationships in data.</a:t>
            </a:r>
          </a:p>
          <a:p>
            <a:pPr marL="0" indent="0">
              <a:spcBef>
                <a:spcPts val="2500"/>
              </a:spcBef>
              <a:buFont typeface="Arial" panose="020B0604020202020204" pitchFamily="34" charset="0"/>
              <a:buNone/>
            </a:pPr>
            <a:r>
              <a:rPr lang="en-GB" sz="1400" b="1"/>
              <a:t>Activation Functions</a:t>
            </a:r>
          </a:p>
          <a:p>
            <a:pPr marL="0" lvl="1" indent="0">
              <a:buFont typeface="Arial" panose="020B0604020202020204" pitchFamily="34" charset="0"/>
              <a:buNone/>
            </a:pPr>
            <a:r>
              <a:rPr lang="en-GB" sz="1400"/>
              <a:t>Activation functions introduce non-linearity, enabling neural networks to model varied data patterns beyond linear regression.</a:t>
            </a:r>
          </a:p>
          <a:p>
            <a:pPr marL="0" indent="0">
              <a:spcBef>
                <a:spcPts val="2500"/>
              </a:spcBef>
              <a:buFont typeface="Arial" panose="020B0604020202020204" pitchFamily="34" charset="0"/>
              <a:buNone/>
            </a:pPr>
            <a:r>
              <a:rPr lang="en-GB" sz="1400" b="1"/>
              <a:t>Advanced Regression Modeling</a:t>
            </a:r>
          </a:p>
          <a:p>
            <a:pPr marL="0" lvl="1" indent="0">
              <a:buFont typeface="Arial" panose="020B0604020202020204" pitchFamily="34" charset="0"/>
              <a:buNone/>
            </a:pPr>
            <a:r>
              <a:rPr lang="en-GB" sz="1400"/>
              <a:t>Neural networks extend regression capabilities by effectively handling complex, non-linear data relationships.</a:t>
            </a:r>
          </a:p>
        </p:txBody>
      </p: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Blockchain circular digital elements - 3d rendered image. Technology, augmented reality (AR), virtual reality (VR) concepts. Abstract backgrounds. Innovation. Cryptocurrency. NFT. Artificial intelligence background.">
            <a:extLst>
              <a:ext uri="{FF2B5EF4-FFF2-40B4-BE49-F238E27FC236}">
                <a16:creationId xmlns:a16="http://schemas.microsoft.com/office/drawing/2014/main" id="{F6AAD79A-9B51-4D8D-9E41-F011FBB0B2F7}"/>
              </a:ext>
            </a:extLst>
          </p:cNvPr>
          <p:cNvPicPr>
            <a:picLocks noGrp="1" noChangeAspect="1"/>
          </p:cNvPicPr>
          <p:nvPr>
            <p:ph sz="half" idx="1"/>
          </p:nvPr>
        </p:nvPicPr>
        <p:blipFill>
          <a:blip r:embed="rId3"/>
          <a:srcRect l="32948" r="33615"/>
          <a:stretch>
            <a:fillRect/>
          </a:stretch>
        </p:blipFill>
        <p:spPr>
          <a:xfrm>
            <a:off x="8115300" y="10"/>
            <a:ext cx="4076700" cy="6857990"/>
          </a:xfrm>
          <a:prstGeom prst="rect">
            <a:avLst/>
          </a:prstGeom>
        </p:spPr>
      </p:pic>
    </p:spTree>
    <p:extLst>
      <p:ext uri="{BB962C8B-B14F-4D97-AF65-F5344CB8AC3E}">
        <p14:creationId xmlns:p14="http://schemas.microsoft.com/office/powerpoint/2010/main" val="10526977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85F35F-DEA3-C53E-E74E-791DA44D4332}"/>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sz="3100"/>
              <a:t>Preventing overfitting and improving model performance</a:t>
            </a:r>
          </a:p>
        </p:txBody>
      </p:sp>
      <p:pic>
        <p:nvPicPr>
          <p:cNvPr id="5" name="Content Placeholder 4" descr="Digital 2d concept which shows abstract background Network optimisation and internet technology">
            <a:extLst>
              <a:ext uri="{FF2B5EF4-FFF2-40B4-BE49-F238E27FC236}">
                <a16:creationId xmlns:a16="http://schemas.microsoft.com/office/drawing/2014/main" id="{68E4BA8A-95AB-43BD-BA5A-25BAB0ACCA88}"/>
              </a:ext>
            </a:extLst>
          </p:cNvPr>
          <p:cNvPicPr>
            <a:picLocks noGrp="1" noChangeAspect="1"/>
          </p:cNvPicPr>
          <p:nvPr>
            <p:ph sz="half" idx="1"/>
          </p:nvPr>
        </p:nvPicPr>
        <p:blipFill>
          <a:blip r:embed="rId3"/>
          <a:srcRect l="31233" r="22888" b="1"/>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C842E6E-010D-3C5F-21F1-3F23EB6BEFB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GB" sz="1400" b="1"/>
              <a:t>Regularisation Techniques</a:t>
            </a:r>
          </a:p>
          <a:p>
            <a:pPr marL="0" lvl="1" indent="0">
              <a:buFont typeface="Arial" panose="020B0604020202020204" pitchFamily="34" charset="0"/>
              <a:buNone/>
            </a:pPr>
            <a:r>
              <a:rPr lang="en-GB" sz="1400"/>
              <a:t>Regularisation adds penalty terms to reduce model complexity and prevent overfitting in training.</a:t>
            </a:r>
          </a:p>
          <a:p>
            <a:pPr marL="0" indent="0">
              <a:spcBef>
                <a:spcPts val="2500"/>
              </a:spcBef>
              <a:buFont typeface="Arial" panose="020B0604020202020204" pitchFamily="34" charset="0"/>
              <a:buNone/>
            </a:pPr>
            <a:r>
              <a:rPr lang="en-GB" sz="1400" b="1"/>
              <a:t>Dropout Method</a:t>
            </a:r>
          </a:p>
          <a:p>
            <a:pPr marL="0" lvl="1" indent="0">
              <a:buFont typeface="Arial" panose="020B0604020202020204" pitchFamily="34" charset="0"/>
              <a:buNone/>
            </a:pPr>
            <a:r>
              <a:rPr lang="en-GB" sz="1400"/>
              <a:t>Dropout randomly disables neurons during training to improve model generalisation and reduce overfitting.</a:t>
            </a:r>
          </a:p>
          <a:p>
            <a:pPr marL="0" indent="0">
              <a:spcBef>
                <a:spcPts val="2500"/>
              </a:spcBef>
              <a:buFont typeface="Arial" panose="020B0604020202020204" pitchFamily="34" charset="0"/>
              <a:buNone/>
            </a:pPr>
            <a:r>
              <a:rPr lang="en-GB" sz="1400" b="1"/>
              <a:t>Early Stopping Strategy</a:t>
            </a:r>
          </a:p>
          <a:p>
            <a:pPr marL="0" lvl="1" indent="0">
              <a:buFont typeface="Arial" panose="020B0604020202020204" pitchFamily="34" charset="0"/>
              <a:buNone/>
            </a:pPr>
            <a:r>
              <a:rPr lang="en-GB" sz="1400"/>
              <a:t>Early stopping halts training when validation performance declines, avoiding overfitting on training data.</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8911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042BF0-91DF-3ADE-76A2-A848103E8159}"/>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Visualising and interpreting results</a:t>
            </a:r>
          </a:p>
        </p:txBody>
      </p:sp>
      <p:pic>
        <p:nvPicPr>
          <p:cNvPr id="5" name="Content Placeholder 4" descr="Zigzag indicator line">
            <a:extLst>
              <a:ext uri="{FF2B5EF4-FFF2-40B4-BE49-F238E27FC236}">
                <a16:creationId xmlns:a16="http://schemas.microsoft.com/office/drawing/2014/main" id="{6F40376D-B76A-4323-8F2C-BF1860ED34EC}"/>
              </a:ext>
            </a:extLst>
          </p:cNvPr>
          <p:cNvPicPr>
            <a:picLocks noGrp="1" noChangeAspect="1"/>
          </p:cNvPicPr>
          <p:nvPr>
            <p:ph sz="half" idx="1"/>
          </p:nvPr>
        </p:nvPicPr>
        <p:blipFill>
          <a:blip r:embed="rId3"/>
          <a:srcRect l="28137" r="31031"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923EDB6-18F2-422A-7118-13A3B2D6DED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GB" sz="1400" b="1"/>
              <a:t>Loss Curves Insight</a:t>
            </a:r>
          </a:p>
          <a:p>
            <a:pPr marL="0" lvl="1" indent="0">
              <a:buFont typeface="Arial" panose="020B0604020202020204" pitchFamily="34" charset="0"/>
              <a:buNone/>
            </a:pPr>
            <a:r>
              <a:rPr lang="en-GB" sz="1400"/>
              <a:t>Loss curves help track model performance over training, revealing convergence or overfitting trends.</a:t>
            </a:r>
          </a:p>
          <a:p>
            <a:pPr marL="0" indent="0">
              <a:spcBef>
                <a:spcPts val="2500"/>
              </a:spcBef>
              <a:buFont typeface="Arial" panose="020B0604020202020204" pitchFamily="34" charset="0"/>
              <a:buNone/>
            </a:pPr>
            <a:r>
              <a:rPr lang="en-GB" sz="1400" b="1"/>
              <a:t>Regression Plot Utility</a:t>
            </a:r>
          </a:p>
          <a:p>
            <a:pPr marL="0" lvl="1" indent="0">
              <a:buFont typeface="Arial" panose="020B0604020202020204" pitchFamily="34" charset="0"/>
              <a:buNone/>
            </a:pPr>
            <a:r>
              <a:rPr lang="en-GB" sz="1400"/>
              <a:t>Regression plots illustrate relationships between variables, helping interpret model predictions and fit quality.</a:t>
            </a:r>
          </a:p>
          <a:p>
            <a:pPr marL="0" indent="0">
              <a:spcBef>
                <a:spcPts val="2500"/>
              </a:spcBef>
              <a:buFont typeface="Arial" panose="020B0604020202020204" pitchFamily="34" charset="0"/>
              <a:buNone/>
            </a:pPr>
            <a:r>
              <a:rPr lang="en-GB" sz="1400" b="1"/>
              <a:t>Residual Analysis Importance</a:t>
            </a:r>
          </a:p>
          <a:p>
            <a:pPr marL="0" lvl="1" indent="0">
              <a:buFont typeface="Arial" panose="020B0604020202020204" pitchFamily="34" charset="0"/>
              <a:buNone/>
            </a:pPr>
            <a:r>
              <a:rPr lang="en-GB" sz="1400"/>
              <a:t>Residual analysis exposes model errors and biases, supporting diagnosis and improvement.</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1969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39FF80B3-3446-CDBE-88F0-B0E59A9CCCC8}"/>
              </a:ext>
            </a:extLst>
          </p:cNvPr>
          <p:cNvSpPr>
            <a:spLocks noGrp="1"/>
          </p:cNvSpPr>
          <p:nvPr>
            <p:ph type="title"/>
          </p:nvPr>
        </p:nvSpPr>
        <p:spPr>
          <a:xfrm>
            <a:off x="700636" y="1280538"/>
            <a:ext cx="7995130" cy="1408176"/>
          </a:xfrm>
        </p:spPr>
        <p:txBody>
          <a:bodyPr anchor="b">
            <a:normAutofit/>
          </a:bodyPr>
          <a:lstStyle/>
          <a:p>
            <a:r>
              <a:rPr lang="en-GB" sz="6000"/>
              <a:t>Conclusion</a:t>
            </a:r>
          </a:p>
        </p:txBody>
      </p:sp>
      <p:graphicFrame>
        <p:nvGraphicFramePr>
          <p:cNvPr id="11" name="Content Placeholder 2">
            <a:extLst>
              <a:ext uri="{FF2B5EF4-FFF2-40B4-BE49-F238E27FC236}">
                <a16:creationId xmlns:a16="http://schemas.microsoft.com/office/drawing/2014/main" id="{4600F411-2074-C70B-E2EE-8390D8D341DC}"/>
              </a:ext>
            </a:extLst>
          </p:cNvPr>
          <p:cNvGraphicFramePr>
            <a:graphicFrameLocks noGrp="1"/>
          </p:cNvGraphicFramePr>
          <p:nvPr>
            <p:ph idx="1"/>
            <p:extLst>
              <p:ext uri="{D42A27DB-BD31-4B8C-83A1-F6EECF244321}">
                <p14:modId xmlns:p14="http://schemas.microsoft.com/office/powerpoint/2010/main" val="371372431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704087" y="3659393"/>
          <a:ext cx="10785783"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CA8CF56C-58F2-6FFF-1369-D8C85682AD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3077378"/>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3408062"/>
      </p:ext>
    </p:extLst>
  </p:cSld>
  <p:clrMapOvr>
    <a:masterClrMapping/>
  </p:clrMapOvr>
  <p:transition>
    <p:fade/>
  </p:transition>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483</TotalTime>
  <Words>2287</Words>
  <Application>Microsoft Office PowerPoint</Application>
  <PresentationFormat>Widescreen</PresentationFormat>
  <Paragraphs>223</Paragraphs>
  <Slides>30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Calisto MT</vt:lpstr>
      <vt:lpstr>Century Gothic</vt:lpstr>
      <vt:lpstr>Univers Condensed</vt:lpstr>
      <vt:lpstr>ChronicleVTI</vt:lpstr>
      <vt:lpstr>Predict the fuel burnt (kg)</vt:lpstr>
      <vt:lpstr>Principles</vt:lpstr>
      <vt:lpstr>Data Model</vt:lpstr>
      <vt:lpstr>Set takeoff and landing date type as UTC Compute flight distance compute flight duration Extract year from takeoff Extract month from takeoff Extract day of the year (1..365) from takeoff  Compute distance (great circle) between departure and arrival compute flight duration between takeoff and landing Principles is to get rid of absolute datetime </vt:lpstr>
      <vt:lpstr>Extend flight list data</vt:lpstr>
      <vt:lpstr>Check great circle distance (in nautical miles)</vt:lpstr>
      <vt:lpstr>Feature engineering https://skybrary.aero/articles/heading-track-and-radial</vt:lpstr>
      <vt:lpstr>Feature engineering of track angles</vt:lpstr>
      <vt:lpstr>Feature engineering of aircraft track angles</vt:lpstr>
      <vt:lpstr>Training versus Validation loss</vt:lpstr>
      <vt:lpstr>Do not</vt:lpstr>
      <vt:lpstr>steps</vt:lpstr>
      <vt:lpstr>Leveraging TensorFlow for Regression Problems: Techniques and Applications</vt:lpstr>
      <vt:lpstr>Presentation Agenda</vt:lpstr>
      <vt:lpstr>Introduction to Regression Analysis</vt:lpstr>
      <vt:lpstr>Fundamental concepts of regression</vt:lpstr>
      <vt:lpstr>Types of regression problems</vt:lpstr>
      <vt:lpstr>Overview of TensorFlow and Its Capabilities</vt:lpstr>
      <vt:lpstr>Key features of TensorFlow</vt:lpstr>
      <vt:lpstr>Setting up TensorFlow for machine learning</vt:lpstr>
      <vt:lpstr>Advantages of TensorFlow for regression tasks</vt:lpstr>
      <vt:lpstr>Implementing Regression Models in TensorFlow</vt:lpstr>
      <vt:lpstr>Preparing data for TensorFlow regression</vt:lpstr>
      <vt:lpstr>Building a linear regression model</vt:lpstr>
      <vt:lpstr>Training, evaluation, and interpretation</vt:lpstr>
      <vt:lpstr>Advanced Techniques and Best Practices</vt:lpstr>
      <vt:lpstr>Handling non-linear regression with neural networks</vt:lpstr>
      <vt:lpstr>Preventing overfitting and improving model performance</vt:lpstr>
      <vt:lpstr>Visualising and interpreting 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PASTOR</dc:creator>
  <cp:lastModifiedBy>ROBERT PASTOR</cp:lastModifiedBy>
  <cp:revision>33</cp:revision>
  <dcterms:created xsi:type="dcterms:W3CDTF">2025-10-13T14:14:28Z</dcterms:created>
  <dcterms:modified xsi:type="dcterms:W3CDTF">2025-10-18T18:28:41Z</dcterms:modified>
</cp:coreProperties>
</file>